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embeddedFontLst>
    <p:embeddedFont>
      <p:font typeface="MiSans" panose="020B0604020202020204" charset="-122"/>
      <p:regular r:id="rId25"/>
    </p:embeddedFont>
    <p:embeddedFont>
      <p:font typeface="Noto Sans SC" panose="020B0604020202020204" charset="-128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45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4B2C-1CC0-AB75-4F59-095F07268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BFE80-8698-31AC-F339-6E2C00E4E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B81C0-6862-D31A-E287-D4E951F68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CFC8C-1549-CE07-55FF-C4CCEE5278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7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0170" y="0"/>
            <a:ext cx="12282170" cy="6858000"/>
          </a:xfrm>
          <a:prstGeom prst="rect">
            <a:avLst/>
          </a:prstGeom>
          <a:solidFill>
            <a:srgbClr val="F8F0E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635" y="0"/>
            <a:ext cx="1228217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30-d2nf7lh8bjvh7rlj0700.png"/>
          <p:cNvPicPr>
            <a:picLocks noChangeAspect="1"/>
          </p:cNvPicPr>
          <p:nvPr/>
        </p:nvPicPr>
        <p:blipFill>
          <a:blip r:embed="rId3"/>
          <a:srcRect t="3" b="3"/>
          <a:stretch/>
        </p:blipFill>
        <p:spPr>
          <a:xfrm flipH="1">
            <a:off x="2461260" y="1731645"/>
            <a:ext cx="11127105" cy="6236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0685" y="776605"/>
            <a:ext cx="10744835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Stock price trend prediction using regression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0685" y="5023485"/>
            <a:ext cx="271843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0685" y="5487670"/>
            <a:ext cx="361886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D282-BE3C-6348-CCA7-20C13F6C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EDDD4F0-5736-8D87-FFCF-5E1576A3DB15}"/>
              </a:ext>
            </a:extLst>
          </p:cNvPr>
          <p:cNvSpPr/>
          <p:nvPr/>
        </p:nvSpPr>
        <p:spPr>
          <a:xfrm>
            <a:off x="-635" y="0"/>
            <a:ext cx="12282170" cy="6858000"/>
          </a:xfrm>
          <a:prstGeom prst="rect">
            <a:avLst/>
          </a:prstGeom>
          <a:solidFill>
            <a:srgbClr val="F8F0E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CAB87D-F3BE-962C-3225-8EE428AFD7BE}"/>
              </a:ext>
            </a:extLst>
          </p:cNvPr>
          <p:cNvSpPr/>
          <p:nvPr/>
        </p:nvSpPr>
        <p:spPr>
          <a:xfrm>
            <a:off x="-635" y="0"/>
            <a:ext cx="1228217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30-d2nf7lh8bjvh7rlj0700.png">
            <a:extLst>
              <a:ext uri="{FF2B5EF4-FFF2-40B4-BE49-F238E27FC236}">
                <a16:creationId xmlns:a16="http://schemas.microsoft.com/office/drawing/2014/main" id="{39AF9768-653D-6373-0FD5-24241576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" b="3"/>
          <a:stretch/>
        </p:blipFill>
        <p:spPr>
          <a:xfrm flipH="1">
            <a:off x="1555750" y="1286168"/>
            <a:ext cx="11127105" cy="6236335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F8BD3A8-CD63-1D6F-49A3-B48546BA024C}"/>
              </a:ext>
            </a:extLst>
          </p:cNvPr>
          <p:cNvSpPr/>
          <p:nvPr/>
        </p:nvSpPr>
        <p:spPr>
          <a:xfrm>
            <a:off x="400685" y="2778174"/>
            <a:ext cx="10744835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30000"/>
              </a:lnSpc>
            </a:pPr>
            <a:r>
              <a:rPr lang="en-US" sz="2400" b="1" dirty="0"/>
              <a:t>Ambala Nalini Prabath(2403A54121)</a:t>
            </a:r>
          </a:p>
          <a:p>
            <a:pPr>
              <a:lnSpc>
                <a:spcPct val="130000"/>
              </a:lnSpc>
            </a:pPr>
            <a:r>
              <a:rPr lang="en-US" sz="2400" b="1" dirty="0" err="1"/>
              <a:t>Narige.Rohith</a:t>
            </a:r>
            <a:r>
              <a:rPr lang="en-US" sz="2400" b="1" dirty="0"/>
              <a:t>(2503A54L01)</a:t>
            </a:r>
          </a:p>
          <a:p>
            <a:pPr>
              <a:lnSpc>
                <a:spcPct val="130000"/>
              </a:lnSpc>
            </a:pPr>
            <a:r>
              <a:rPr lang="en-US" sz="2400" b="1" dirty="0" err="1"/>
              <a:t>Bandi.Sai</a:t>
            </a:r>
            <a:r>
              <a:rPr lang="en-US" sz="2400" b="1" dirty="0"/>
              <a:t> Charan </a:t>
            </a:r>
            <a:r>
              <a:rPr lang="en-US" sz="2400" b="1" dirty="0" err="1"/>
              <a:t>goud</a:t>
            </a:r>
            <a:r>
              <a:rPr lang="en-US" sz="2400" b="1" dirty="0"/>
              <a:t>(2403A54111)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4BCD76A-9D1E-7D3F-1D6B-78FA9A7209DC}"/>
              </a:ext>
            </a:extLst>
          </p:cNvPr>
          <p:cNvSpPr/>
          <p:nvPr/>
        </p:nvSpPr>
        <p:spPr>
          <a:xfrm>
            <a:off x="400685" y="5023485"/>
            <a:ext cx="271843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8AA52A8-4558-3C59-DFA7-14E626CB95F8}"/>
              </a:ext>
            </a:extLst>
          </p:cNvPr>
          <p:cNvSpPr/>
          <p:nvPr/>
        </p:nvSpPr>
        <p:spPr>
          <a:xfrm>
            <a:off x="400685" y="5487670"/>
            <a:ext cx="361886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455217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5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10795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g.png"/>
          <p:cNvPicPr>
            <a:picLocks noChangeAspect="1"/>
          </p:cNvPicPr>
          <p:nvPr/>
        </p:nvPicPr>
        <p:blipFill>
          <a:blip r:embed="rId3"/>
          <a:srcRect t="7" b="7"/>
          <a:stretch/>
        </p:blipFill>
        <p:spPr>
          <a:xfrm rot="900000" flipH="1">
            <a:off x="5394325" y="-665480"/>
            <a:ext cx="5893435" cy="33026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420000">
            <a:off x="901700" y="10604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6" name="Text 3"/>
          <p:cNvSpPr/>
          <p:nvPr/>
        </p:nvSpPr>
        <p:spPr>
          <a:xfrm rot="420000">
            <a:off x="901700" y="10604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420000">
            <a:off x="901700" y="174180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8" name="Text 5"/>
          <p:cNvSpPr/>
          <p:nvPr/>
        </p:nvSpPr>
        <p:spPr>
          <a:xfrm rot="420000">
            <a:off x="901700" y="174180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420000">
            <a:off x="901700" y="337756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10" name="Text 7"/>
          <p:cNvSpPr/>
          <p:nvPr/>
        </p:nvSpPr>
        <p:spPr>
          <a:xfrm rot="420000">
            <a:off x="901700" y="337756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rot="420000">
            <a:off x="901700" y="501332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12" name="Text 9"/>
          <p:cNvSpPr/>
          <p:nvPr/>
        </p:nvSpPr>
        <p:spPr>
          <a:xfrm rot="420000">
            <a:off x="901700" y="501332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 rot="420000">
            <a:off x="6276975" y="337756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14" name="Text 11"/>
          <p:cNvSpPr/>
          <p:nvPr/>
        </p:nvSpPr>
        <p:spPr>
          <a:xfrm rot="420000">
            <a:off x="6276975" y="337756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420000">
            <a:off x="6287135" y="5013325"/>
            <a:ext cx="1433195" cy="1525905"/>
          </a:xfrm>
          <a:custGeom>
            <a:avLst/>
            <a:gdLst/>
            <a:ahLst/>
            <a:cxnLst/>
            <a:rect l="l" t="t" r="r" b="b"/>
            <a:pathLst>
              <a:path w="1433195" h="1525905">
                <a:moveTo>
                  <a:pt x="798494" y="151715"/>
                </a:moveTo>
                <a:cubicBezTo>
                  <a:pt x="836518" y="144421"/>
                  <a:pt x="880391" y="129833"/>
                  <a:pt x="922802" y="119622"/>
                </a:cubicBezTo>
                <a:cubicBezTo>
                  <a:pt x="934502" y="116704"/>
                  <a:pt x="947664" y="118163"/>
                  <a:pt x="959363" y="116704"/>
                </a:cubicBezTo>
                <a:cubicBezTo>
                  <a:pt x="963751" y="116704"/>
                  <a:pt x="968138" y="112328"/>
                  <a:pt x="973988" y="112328"/>
                </a:cubicBezTo>
                <a:cubicBezTo>
                  <a:pt x="985687" y="109410"/>
                  <a:pt x="998849" y="113786"/>
                  <a:pt x="1010549" y="112328"/>
                </a:cubicBezTo>
                <a:cubicBezTo>
                  <a:pt x="1026636" y="109410"/>
                  <a:pt x="1048572" y="100657"/>
                  <a:pt x="1066122" y="97740"/>
                </a:cubicBezTo>
                <a:cubicBezTo>
                  <a:pt x="1088058" y="93363"/>
                  <a:pt x="1109995" y="96281"/>
                  <a:pt x="1131932" y="100657"/>
                </a:cubicBezTo>
                <a:cubicBezTo>
                  <a:pt x="1139244" y="142962"/>
                  <a:pt x="1155331" y="211526"/>
                  <a:pt x="1148018" y="245078"/>
                </a:cubicBezTo>
                <a:cubicBezTo>
                  <a:pt x="1155331" y="294678"/>
                  <a:pt x="1152406" y="342818"/>
                  <a:pt x="1167030" y="379288"/>
                </a:cubicBezTo>
                <a:cubicBezTo>
                  <a:pt x="1174342" y="433264"/>
                  <a:pt x="1184580" y="491616"/>
                  <a:pt x="1193354" y="545591"/>
                </a:cubicBezTo>
                <a:cubicBezTo>
                  <a:pt x="1203591" y="602484"/>
                  <a:pt x="1224066" y="652084"/>
                  <a:pt x="1241615" y="700224"/>
                </a:cubicBezTo>
                <a:cubicBezTo>
                  <a:pt x="1263552" y="761494"/>
                  <a:pt x="1282563" y="821305"/>
                  <a:pt x="1308887" y="876739"/>
                </a:cubicBezTo>
                <a:cubicBezTo>
                  <a:pt x="1343986" y="948220"/>
                  <a:pt x="1392247" y="1013866"/>
                  <a:pt x="1422958" y="1089724"/>
                </a:cubicBezTo>
                <a:cubicBezTo>
                  <a:pt x="1431733" y="1097018"/>
                  <a:pt x="1437582" y="1107229"/>
                  <a:pt x="1433195" y="1115982"/>
                </a:cubicBezTo>
                <a:cubicBezTo>
                  <a:pt x="1430270" y="1123276"/>
                  <a:pt x="1420033" y="1123276"/>
                  <a:pt x="1411258" y="1127653"/>
                </a:cubicBezTo>
                <a:cubicBezTo>
                  <a:pt x="1398096" y="1133488"/>
                  <a:pt x="1382009" y="1145158"/>
                  <a:pt x="1362998" y="1150993"/>
                </a:cubicBezTo>
                <a:cubicBezTo>
                  <a:pt x="1327899" y="1162664"/>
                  <a:pt x="1291338" y="1178711"/>
                  <a:pt x="1265014" y="1193299"/>
                </a:cubicBezTo>
                <a:cubicBezTo>
                  <a:pt x="1251852" y="1200593"/>
                  <a:pt x="1226990" y="1203510"/>
                  <a:pt x="1215291" y="1215181"/>
                </a:cubicBezTo>
                <a:cubicBezTo>
                  <a:pt x="1153868" y="1222475"/>
                  <a:pt x="1066122" y="1254568"/>
                  <a:pt x="995924" y="1270615"/>
                </a:cubicBezTo>
                <a:cubicBezTo>
                  <a:pt x="990075" y="1270615"/>
                  <a:pt x="991537" y="1276450"/>
                  <a:pt x="988612" y="1277909"/>
                </a:cubicBezTo>
                <a:cubicBezTo>
                  <a:pt x="968138" y="1274991"/>
                  <a:pt x="947664" y="1283744"/>
                  <a:pt x="925727" y="1286662"/>
                </a:cubicBezTo>
                <a:cubicBezTo>
                  <a:pt x="827743" y="1304167"/>
                  <a:pt x="725372" y="1315838"/>
                  <a:pt x="633238" y="1356684"/>
                </a:cubicBezTo>
                <a:cubicBezTo>
                  <a:pt x="570353" y="1384401"/>
                  <a:pt x="504543" y="1404825"/>
                  <a:pt x="448970" y="1432542"/>
                </a:cubicBezTo>
                <a:cubicBezTo>
                  <a:pt x="393397" y="1460259"/>
                  <a:pt x="348062" y="1498188"/>
                  <a:pt x="301263" y="1525905"/>
                </a:cubicBezTo>
                <a:cubicBezTo>
                  <a:pt x="291026" y="1512776"/>
                  <a:pt x="286639" y="1495270"/>
                  <a:pt x="279327" y="1479223"/>
                </a:cubicBezTo>
                <a:cubicBezTo>
                  <a:pt x="270552" y="1460259"/>
                  <a:pt x="258853" y="1438377"/>
                  <a:pt x="248615" y="1416495"/>
                </a:cubicBezTo>
                <a:cubicBezTo>
                  <a:pt x="244228" y="1407742"/>
                  <a:pt x="242766" y="1396072"/>
                  <a:pt x="239841" y="1387319"/>
                </a:cubicBezTo>
                <a:cubicBezTo>
                  <a:pt x="214979" y="1327508"/>
                  <a:pt x="190118" y="1263321"/>
                  <a:pt x="163794" y="1197675"/>
                </a:cubicBezTo>
                <a:cubicBezTo>
                  <a:pt x="159406" y="1188922"/>
                  <a:pt x="153557" y="1180169"/>
                  <a:pt x="150632" y="1172875"/>
                </a:cubicBezTo>
                <a:cubicBezTo>
                  <a:pt x="149169" y="1167040"/>
                  <a:pt x="150632" y="1158287"/>
                  <a:pt x="149169" y="1152452"/>
                </a:cubicBezTo>
                <a:cubicBezTo>
                  <a:pt x="136007" y="1111606"/>
                  <a:pt x="119920" y="1064924"/>
                  <a:pt x="106758" y="1019701"/>
                </a:cubicBezTo>
                <a:cubicBezTo>
                  <a:pt x="99446" y="996361"/>
                  <a:pt x="92134" y="971561"/>
                  <a:pt x="84822" y="948220"/>
                </a:cubicBezTo>
                <a:cubicBezTo>
                  <a:pt x="80434" y="935091"/>
                  <a:pt x="74585" y="921962"/>
                  <a:pt x="71660" y="908833"/>
                </a:cubicBezTo>
                <a:cubicBezTo>
                  <a:pt x="68735" y="894245"/>
                  <a:pt x="70197" y="879657"/>
                  <a:pt x="67272" y="863610"/>
                </a:cubicBezTo>
                <a:cubicBezTo>
                  <a:pt x="58498" y="815469"/>
                  <a:pt x="42411" y="767329"/>
                  <a:pt x="33636" y="716271"/>
                </a:cubicBezTo>
                <a:cubicBezTo>
                  <a:pt x="29249" y="690012"/>
                  <a:pt x="26324" y="663754"/>
                  <a:pt x="23399" y="634578"/>
                </a:cubicBezTo>
                <a:cubicBezTo>
                  <a:pt x="16087" y="589355"/>
                  <a:pt x="11700" y="545591"/>
                  <a:pt x="10237" y="500368"/>
                </a:cubicBezTo>
                <a:cubicBezTo>
                  <a:pt x="8775" y="472651"/>
                  <a:pt x="0" y="444934"/>
                  <a:pt x="5850" y="420134"/>
                </a:cubicBezTo>
                <a:cubicBezTo>
                  <a:pt x="61423" y="396794"/>
                  <a:pt x="121383" y="360324"/>
                  <a:pt x="191580" y="341359"/>
                </a:cubicBezTo>
                <a:cubicBezTo>
                  <a:pt x="204742" y="332606"/>
                  <a:pt x="225216" y="323854"/>
                  <a:pt x="239841" y="322395"/>
                </a:cubicBezTo>
                <a:cubicBezTo>
                  <a:pt x="283714" y="299054"/>
                  <a:pt x="337825" y="285925"/>
                  <a:pt x="390473" y="271337"/>
                </a:cubicBezTo>
                <a:cubicBezTo>
                  <a:pt x="438733" y="259666"/>
                  <a:pt x="488456" y="234867"/>
                  <a:pt x="530867" y="231949"/>
                </a:cubicBezTo>
                <a:cubicBezTo>
                  <a:pt x="542567" y="224655"/>
                  <a:pt x="558654" y="220279"/>
                  <a:pt x="574740" y="217361"/>
                </a:cubicBezTo>
                <a:cubicBezTo>
                  <a:pt x="567428" y="188185"/>
                  <a:pt x="542567" y="147339"/>
                  <a:pt x="539642" y="115245"/>
                </a:cubicBezTo>
                <a:cubicBezTo>
                  <a:pt x="536717" y="78775"/>
                  <a:pt x="558654" y="53976"/>
                  <a:pt x="576203" y="24800"/>
                </a:cubicBezTo>
                <a:cubicBezTo>
                  <a:pt x="596677" y="23341"/>
                  <a:pt x="617151" y="5835"/>
                  <a:pt x="642013" y="2918"/>
                </a:cubicBezTo>
                <a:cubicBezTo>
                  <a:pt x="672724" y="0"/>
                  <a:pt x="693198" y="10212"/>
                  <a:pt x="720985" y="20423"/>
                </a:cubicBezTo>
                <a:cubicBezTo>
                  <a:pt x="729759" y="37929"/>
                  <a:pt x="747309" y="48140"/>
                  <a:pt x="759008" y="64187"/>
                </a:cubicBezTo>
                <a:cubicBezTo>
                  <a:pt x="775095" y="90446"/>
                  <a:pt x="779483" y="125457"/>
                  <a:pt x="798494" y="151715"/>
                </a:cubicBezTo>
                <a:close/>
                <a:moveTo>
                  <a:pt x="706360" y="370535"/>
                </a:moveTo>
                <a:cubicBezTo>
                  <a:pt x="696123" y="351571"/>
                  <a:pt x="685886" y="326771"/>
                  <a:pt x="677112" y="304889"/>
                </a:cubicBezTo>
                <a:cubicBezTo>
                  <a:pt x="662487" y="271337"/>
                  <a:pt x="650788" y="236326"/>
                  <a:pt x="653712" y="199856"/>
                </a:cubicBezTo>
                <a:cubicBezTo>
                  <a:pt x="665412" y="180891"/>
                  <a:pt x="685886" y="176515"/>
                  <a:pt x="713673" y="182350"/>
                </a:cubicBezTo>
                <a:cubicBezTo>
                  <a:pt x="744384" y="224655"/>
                  <a:pt x="779483" y="307807"/>
                  <a:pt x="799957" y="367618"/>
                </a:cubicBezTo>
                <a:cubicBezTo>
                  <a:pt x="816044" y="411382"/>
                  <a:pt x="852605" y="487239"/>
                  <a:pt x="821893" y="520792"/>
                </a:cubicBezTo>
                <a:cubicBezTo>
                  <a:pt x="818969" y="523709"/>
                  <a:pt x="799957" y="541215"/>
                  <a:pt x="789720" y="542674"/>
                </a:cubicBezTo>
                <a:cubicBezTo>
                  <a:pt x="778020" y="544132"/>
                  <a:pt x="751696" y="539756"/>
                  <a:pt x="744384" y="533921"/>
                </a:cubicBezTo>
                <a:cubicBezTo>
                  <a:pt x="735609" y="528086"/>
                  <a:pt x="735609" y="514956"/>
                  <a:pt x="728297" y="509121"/>
                </a:cubicBezTo>
                <a:cubicBezTo>
                  <a:pt x="668337" y="377829"/>
                  <a:pt x="602527" y="262584"/>
                  <a:pt x="580590" y="93363"/>
                </a:cubicBezTo>
                <a:cubicBezTo>
                  <a:pt x="592290" y="71481"/>
                  <a:pt x="614226" y="59811"/>
                  <a:pt x="636163" y="48140"/>
                </a:cubicBezTo>
                <a:cubicBezTo>
                  <a:pt x="663950" y="45223"/>
                  <a:pt x="687349" y="56893"/>
                  <a:pt x="709285" y="64187"/>
                </a:cubicBezTo>
                <a:cubicBezTo>
                  <a:pt x="722447" y="84610"/>
                  <a:pt x="739997" y="100657"/>
                  <a:pt x="751696" y="122539"/>
                </a:cubicBezTo>
                <a:cubicBezTo>
                  <a:pt x="759008" y="137127"/>
                  <a:pt x="760471" y="156092"/>
                  <a:pt x="773633" y="166303"/>
                </a:cubicBezTo>
                <a:cubicBezTo>
                  <a:pt x="775095" y="160468"/>
                  <a:pt x="778020" y="166303"/>
                  <a:pt x="780945" y="163386"/>
                </a:cubicBezTo>
                <a:cubicBezTo>
                  <a:pt x="773633" y="121080"/>
                  <a:pt x="753159" y="93363"/>
                  <a:pt x="732684" y="56893"/>
                </a:cubicBezTo>
                <a:cubicBezTo>
                  <a:pt x="723910" y="52517"/>
                  <a:pt x="715135" y="45223"/>
                  <a:pt x="709285" y="35011"/>
                </a:cubicBezTo>
                <a:cubicBezTo>
                  <a:pt x="694661" y="29176"/>
                  <a:pt x="672724" y="17506"/>
                  <a:pt x="647863" y="20423"/>
                </a:cubicBezTo>
                <a:cubicBezTo>
                  <a:pt x="628851" y="23341"/>
                  <a:pt x="606914" y="33552"/>
                  <a:pt x="584978" y="40846"/>
                </a:cubicBezTo>
                <a:cubicBezTo>
                  <a:pt x="565966" y="58352"/>
                  <a:pt x="551341" y="86069"/>
                  <a:pt x="558654" y="119622"/>
                </a:cubicBezTo>
                <a:cubicBezTo>
                  <a:pt x="571816" y="148798"/>
                  <a:pt x="577665" y="185268"/>
                  <a:pt x="590827" y="215902"/>
                </a:cubicBezTo>
                <a:cubicBezTo>
                  <a:pt x="595215" y="247996"/>
                  <a:pt x="608377" y="266960"/>
                  <a:pt x="609839" y="293219"/>
                </a:cubicBezTo>
                <a:cubicBezTo>
                  <a:pt x="631776" y="344277"/>
                  <a:pt x="643475" y="399711"/>
                  <a:pt x="665412" y="447852"/>
                </a:cubicBezTo>
                <a:cubicBezTo>
                  <a:pt x="682961" y="487239"/>
                  <a:pt x="709285" y="532462"/>
                  <a:pt x="738534" y="557262"/>
                </a:cubicBezTo>
                <a:cubicBezTo>
                  <a:pt x="751696" y="557262"/>
                  <a:pt x="760471" y="564556"/>
                  <a:pt x="775095" y="566014"/>
                </a:cubicBezTo>
                <a:cubicBezTo>
                  <a:pt x="786795" y="560179"/>
                  <a:pt x="810194" y="561638"/>
                  <a:pt x="820431" y="558720"/>
                </a:cubicBezTo>
                <a:cubicBezTo>
                  <a:pt x="821893" y="551426"/>
                  <a:pt x="832131" y="548509"/>
                  <a:pt x="840905" y="544132"/>
                </a:cubicBezTo>
                <a:cubicBezTo>
                  <a:pt x="865767" y="512039"/>
                  <a:pt x="852605" y="468275"/>
                  <a:pt x="842368" y="427428"/>
                </a:cubicBezTo>
                <a:cubicBezTo>
                  <a:pt x="839443" y="415758"/>
                  <a:pt x="840905" y="405546"/>
                  <a:pt x="836518" y="395335"/>
                </a:cubicBezTo>
                <a:cubicBezTo>
                  <a:pt x="821893" y="350112"/>
                  <a:pt x="798494" y="299054"/>
                  <a:pt x="783870" y="264043"/>
                </a:cubicBezTo>
                <a:cubicBezTo>
                  <a:pt x="773633" y="237784"/>
                  <a:pt x="760471" y="212985"/>
                  <a:pt x="747309" y="192562"/>
                </a:cubicBezTo>
                <a:cubicBezTo>
                  <a:pt x="742921" y="182350"/>
                  <a:pt x="737072" y="170680"/>
                  <a:pt x="732684" y="166303"/>
                </a:cubicBezTo>
                <a:cubicBezTo>
                  <a:pt x="704898" y="135668"/>
                  <a:pt x="658100" y="157550"/>
                  <a:pt x="634701" y="182350"/>
                </a:cubicBezTo>
                <a:cubicBezTo>
                  <a:pt x="621539" y="233408"/>
                  <a:pt x="643475" y="277172"/>
                  <a:pt x="661025" y="320936"/>
                </a:cubicBezTo>
                <a:cubicBezTo>
                  <a:pt x="666874" y="338442"/>
                  <a:pt x="677112" y="357406"/>
                  <a:pt x="687349" y="373453"/>
                </a:cubicBezTo>
                <a:cubicBezTo>
                  <a:pt x="697586" y="389500"/>
                  <a:pt x="704898" y="415758"/>
                  <a:pt x="722447" y="412840"/>
                </a:cubicBezTo>
                <a:cubicBezTo>
                  <a:pt x="728297" y="399711"/>
                  <a:pt x="713673" y="385123"/>
                  <a:pt x="706360" y="370535"/>
                </a:cubicBezTo>
                <a:close/>
                <a:moveTo>
                  <a:pt x="732684" y="121080"/>
                </a:moveTo>
                <a:cubicBezTo>
                  <a:pt x="725372" y="106492"/>
                  <a:pt x="709285" y="84610"/>
                  <a:pt x="699048" y="77316"/>
                </a:cubicBezTo>
                <a:cubicBezTo>
                  <a:pt x="684424" y="68564"/>
                  <a:pt x="655175" y="59811"/>
                  <a:pt x="640550" y="64187"/>
                </a:cubicBezTo>
                <a:cubicBezTo>
                  <a:pt x="631776" y="67105"/>
                  <a:pt x="625926" y="77316"/>
                  <a:pt x="618614" y="81693"/>
                </a:cubicBezTo>
                <a:cubicBezTo>
                  <a:pt x="609839" y="86069"/>
                  <a:pt x="598140" y="87528"/>
                  <a:pt x="595215" y="99198"/>
                </a:cubicBezTo>
                <a:cubicBezTo>
                  <a:pt x="592290" y="109410"/>
                  <a:pt x="595215" y="128374"/>
                  <a:pt x="596677" y="137127"/>
                </a:cubicBezTo>
                <a:cubicBezTo>
                  <a:pt x="601064" y="161927"/>
                  <a:pt x="612764" y="188185"/>
                  <a:pt x="620076" y="208608"/>
                </a:cubicBezTo>
                <a:cubicBezTo>
                  <a:pt x="617151" y="164844"/>
                  <a:pt x="659562" y="140045"/>
                  <a:pt x="694661" y="138586"/>
                </a:cubicBezTo>
                <a:cubicBezTo>
                  <a:pt x="719522" y="138586"/>
                  <a:pt x="734147" y="156092"/>
                  <a:pt x="750234" y="166303"/>
                </a:cubicBezTo>
                <a:cubicBezTo>
                  <a:pt x="742921" y="147339"/>
                  <a:pt x="744384" y="138586"/>
                  <a:pt x="732684" y="121080"/>
                </a:cubicBezTo>
                <a:close/>
                <a:moveTo>
                  <a:pt x="1058809" y="121080"/>
                </a:moveTo>
                <a:cubicBezTo>
                  <a:pt x="1041260" y="129833"/>
                  <a:pt x="1016398" y="125457"/>
                  <a:pt x="992999" y="128374"/>
                </a:cubicBezTo>
                <a:cubicBezTo>
                  <a:pt x="971063" y="131292"/>
                  <a:pt x="949126" y="141504"/>
                  <a:pt x="931577" y="142962"/>
                </a:cubicBezTo>
                <a:cubicBezTo>
                  <a:pt x="921340" y="144421"/>
                  <a:pt x="912565" y="141504"/>
                  <a:pt x="902328" y="142962"/>
                </a:cubicBezTo>
                <a:cubicBezTo>
                  <a:pt x="852605" y="151715"/>
                  <a:pt x="810194" y="172138"/>
                  <a:pt x="760471" y="185268"/>
                </a:cubicBezTo>
                <a:cubicBezTo>
                  <a:pt x="785332" y="218820"/>
                  <a:pt x="805807" y="280090"/>
                  <a:pt x="827743" y="328230"/>
                </a:cubicBezTo>
                <a:cubicBezTo>
                  <a:pt x="845293" y="401170"/>
                  <a:pt x="890628" y="487239"/>
                  <a:pt x="862842" y="555803"/>
                </a:cubicBezTo>
                <a:cubicBezTo>
                  <a:pt x="840905" y="573308"/>
                  <a:pt x="807269" y="573308"/>
                  <a:pt x="776558" y="584979"/>
                </a:cubicBezTo>
                <a:cubicBezTo>
                  <a:pt x="772170" y="582061"/>
                  <a:pt x="764858" y="580602"/>
                  <a:pt x="760471" y="577685"/>
                </a:cubicBezTo>
                <a:cubicBezTo>
                  <a:pt x="720985" y="576226"/>
                  <a:pt x="700511" y="542674"/>
                  <a:pt x="685886" y="514956"/>
                </a:cubicBezTo>
                <a:cubicBezTo>
                  <a:pt x="640550" y="433264"/>
                  <a:pt x="603989" y="319477"/>
                  <a:pt x="580590" y="231949"/>
                </a:cubicBezTo>
                <a:cubicBezTo>
                  <a:pt x="561578" y="234867"/>
                  <a:pt x="544029" y="242161"/>
                  <a:pt x="529405" y="246537"/>
                </a:cubicBezTo>
                <a:cubicBezTo>
                  <a:pt x="503081" y="253831"/>
                  <a:pt x="486994" y="259666"/>
                  <a:pt x="467982" y="264043"/>
                </a:cubicBezTo>
                <a:cubicBezTo>
                  <a:pt x="450433" y="268419"/>
                  <a:pt x="434346" y="275713"/>
                  <a:pt x="418259" y="281548"/>
                </a:cubicBezTo>
                <a:cubicBezTo>
                  <a:pt x="386085" y="291760"/>
                  <a:pt x="352449" y="296136"/>
                  <a:pt x="320275" y="306348"/>
                </a:cubicBezTo>
                <a:cubicBezTo>
                  <a:pt x="299801" y="312183"/>
                  <a:pt x="280789" y="323854"/>
                  <a:pt x="261777" y="331148"/>
                </a:cubicBezTo>
                <a:cubicBezTo>
                  <a:pt x="209129" y="351571"/>
                  <a:pt x="156481" y="366159"/>
                  <a:pt x="105296" y="393876"/>
                </a:cubicBezTo>
                <a:cubicBezTo>
                  <a:pt x="76047" y="395335"/>
                  <a:pt x="54110" y="421593"/>
                  <a:pt x="23399" y="427428"/>
                </a:cubicBezTo>
                <a:cubicBezTo>
                  <a:pt x="21937" y="510580"/>
                  <a:pt x="29249" y="595190"/>
                  <a:pt x="45336" y="688554"/>
                </a:cubicBezTo>
                <a:cubicBezTo>
                  <a:pt x="51186" y="723565"/>
                  <a:pt x="67272" y="757117"/>
                  <a:pt x="71660" y="795046"/>
                </a:cubicBezTo>
                <a:cubicBezTo>
                  <a:pt x="78972" y="850481"/>
                  <a:pt x="89209" y="904456"/>
                  <a:pt x="105296" y="958432"/>
                </a:cubicBezTo>
                <a:cubicBezTo>
                  <a:pt x="121383" y="1013866"/>
                  <a:pt x="131620" y="1070759"/>
                  <a:pt x="149169" y="1121817"/>
                </a:cubicBezTo>
                <a:cubicBezTo>
                  <a:pt x="162331" y="1164123"/>
                  <a:pt x="179881" y="1206428"/>
                  <a:pt x="195967" y="1244357"/>
                </a:cubicBezTo>
                <a:cubicBezTo>
                  <a:pt x="210592" y="1279368"/>
                  <a:pt x="223754" y="1310003"/>
                  <a:pt x="235453" y="1342096"/>
                </a:cubicBezTo>
                <a:cubicBezTo>
                  <a:pt x="257390" y="1400448"/>
                  <a:pt x="280789" y="1458800"/>
                  <a:pt x="310038" y="1506941"/>
                </a:cubicBezTo>
                <a:cubicBezTo>
                  <a:pt x="391935" y="1435459"/>
                  <a:pt x="501618" y="1398989"/>
                  <a:pt x="598140" y="1356684"/>
                </a:cubicBezTo>
                <a:cubicBezTo>
                  <a:pt x="701973" y="1311461"/>
                  <a:pt x="824818" y="1296873"/>
                  <a:pt x="938889" y="1269156"/>
                </a:cubicBezTo>
                <a:cubicBezTo>
                  <a:pt x="991537" y="1256027"/>
                  <a:pt x="1031023" y="1242898"/>
                  <a:pt x="1074896" y="1229769"/>
                </a:cubicBezTo>
                <a:cubicBezTo>
                  <a:pt x="1121694" y="1215181"/>
                  <a:pt x="1169955" y="1204969"/>
                  <a:pt x="1213828" y="1187463"/>
                </a:cubicBezTo>
                <a:cubicBezTo>
                  <a:pt x="1257702" y="1171417"/>
                  <a:pt x="1297188" y="1149535"/>
                  <a:pt x="1339599" y="1137864"/>
                </a:cubicBezTo>
                <a:cubicBezTo>
                  <a:pt x="1355685" y="1120359"/>
                  <a:pt x="1390784" y="1114523"/>
                  <a:pt x="1411258" y="1104312"/>
                </a:cubicBezTo>
                <a:cubicBezTo>
                  <a:pt x="1403946" y="1072218"/>
                  <a:pt x="1380547" y="1051795"/>
                  <a:pt x="1364460" y="1024078"/>
                </a:cubicBezTo>
                <a:cubicBezTo>
                  <a:pt x="1346911" y="989067"/>
                  <a:pt x="1326437" y="958432"/>
                  <a:pt x="1311812" y="926338"/>
                </a:cubicBezTo>
                <a:cubicBezTo>
                  <a:pt x="1279638" y="851939"/>
                  <a:pt x="1248927" y="780458"/>
                  <a:pt x="1225528" y="704600"/>
                </a:cubicBezTo>
                <a:cubicBezTo>
                  <a:pt x="1213828" y="669589"/>
                  <a:pt x="1199204" y="636037"/>
                  <a:pt x="1190429" y="601026"/>
                </a:cubicBezTo>
                <a:cubicBezTo>
                  <a:pt x="1180192" y="561638"/>
                  <a:pt x="1175805" y="519333"/>
                  <a:pt x="1168493" y="477028"/>
                </a:cubicBezTo>
                <a:cubicBezTo>
                  <a:pt x="1162643" y="439099"/>
                  <a:pt x="1152406" y="399711"/>
                  <a:pt x="1145094" y="358865"/>
                </a:cubicBezTo>
                <a:cubicBezTo>
                  <a:pt x="1129007" y="275713"/>
                  <a:pt x="1140706" y="194020"/>
                  <a:pt x="1114382" y="115245"/>
                </a:cubicBezTo>
                <a:cubicBezTo>
                  <a:pt x="1112920" y="115245"/>
                  <a:pt x="1111457" y="115245"/>
                  <a:pt x="1109995" y="115245"/>
                </a:cubicBezTo>
                <a:cubicBezTo>
                  <a:pt x="1083671" y="118163"/>
                  <a:pt x="1079284" y="125457"/>
                  <a:pt x="1058809" y="121080"/>
                </a:cubicBezTo>
                <a:close/>
                <a:moveTo>
                  <a:pt x="770708" y="528086"/>
                </a:moveTo>
                <a:cubicBezTo>
                  <a:pt x="780945" y="529544"/>
                  <a:pt x="799957" y="520792"/>
                  <a:pt x="798494" y="516415"/>
                </a:cubicBezTo>
                <a:cubicBezTo>
                  <a:pt x="816044" y="506204"/>
                  <a:pt x="818969" y="479945"/>
                  <a:pt x="817506" y="459522"/>
                </a:cubicBezTo>
                <a:cubicBezTo>
                  <a:pt x="779483" y="370535"/>
                  <a:pt x="756083" y="269878"/>
                  <a:pt x="703436" y="199856"/>
                </a:cubicBezTo>
                <a:cubicBezTo>
                  <a:pt x="685886" y="196938"/>
                  <a:pt x="675649" y="194020"/>
                  <a:pt x="669799" y="204232"/>
                </a:cubicBezTo>
                <a:cubicBezTo>
                  <a:pt x="675649" y="204232"/>
                  <a:pt x="669799" y="205691"/>
                  <a:pt x="669799" y="205691"/>
                </a:cubicBezTo>
                <a:cubicBezTo>
                  <a:pt x="662487" y="255290"/>
                  <a:pt x="688811" y="281548"/>
                  <a:pt x="700511" y="319477"/>
                </a:cubicBezTo>
                <a:cubicBezTo>
                  <a:pt x="704898" y="334065"/>
                  <a:pt x="709285" y="338442"/>
                  <a:pt x="713673" y="350112"/>
                </a:cubicBezTo>
                <a:cubicBezTo>
                  <a:pt x="715135" y="354488"/>
                  <a:pt x="715135" y="360324"/>
                  <a:pt x="716597" y="364700"/>
                </a:cubicBezTo>
                <a:cubicBezTo>
                  <a:pt x="728297" y="388041"/>
                  <a:pt x="761933" y="407005"/>
                  <a:pt x="735609" y="430346"/>
                </a:cubicBezTo>
                <a:cubicBezTo>
                  <a:pt x="728297" y="427428"/>
                  <a:pt x="716597" y="433264"/>
                  <a:pt x="707823" y="434722"/>
                </a:cubicBezTo>
                <a:cubicBezTo>
                  <a:pt x="725372" y="459522"/>
                  <a:pt x="738534" y="523709"/>
                  <a:pt x="770708" y="528086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16" name="Text 13"/>
          <p:cNvSpPr/>
          <p:nvPr/>
        </p:nvSpPr>
        <p:spPr>
          <a:xfrm rot="420000">
            <a:off x="6287135" y="5013325"/>
            <a:ext cx="1433195" cy="152590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7" name="Image 1" descr="https://kimi-img.moonshot.cn/pub/slides/slides_tmpl/image/25-08-27-20:02:26-d2nf7kh8bjvh7rlj06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810" y="2839720"/>
            <a:ext cx="1987550" cy="49403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158095" y="3656965"/>
            <a:ext cx="1291590" cy="676910"/>
          </a:xfrm>
          <a:custGeom>
            <a:avLst/>
            <a:gdLst/>
            <a:ahLst/>
            <a:cxnLst/>
            <a:rect l="l" t="t" r="r" b="b"/>
            <a:pathLst>
              <a:path w="1291590" h="676910">
                <a:moveTo>
                  <a:pt x="1206381" y="85552"/>
                </a:moveTo>
                <a:cubicBezTo>
                  <a:pt x="1255713" y="44277"/>
                  <a:pt x="1300559" y="138834"/>
                  <a:pt x="1291590" y="182360"/>
                </a:cubicBezTo>
                <a:cubicBezTo>
                  <a:pt x="1289348" y="191366"/>
                  <a:pt x="1281126" y="203373"/>
                  <a:pt x="1274399" y="214630"/>
                </a:cubicBezTo>
                <a:cubicBezTo>
                  <a:pt x="1259450" y="239395"/>
                  <a:pt x="1251228" y="250652"/>
                  <a:pt x="1230299" y="265661"/>
                </a:cubicBezTo>
                <a:cubicBezTo>
                  <a:pt x="1203391" y="285173"/>
                  <a:pt x="1160787" y="303934"/>
                  <a:pt x="1138363" y="322695"/>
                </a:cubicBezTo>
                <a:cubicBezTo>
                  <a:pt x="1079315" y="382732"/>
                  <a:pt x="990368" y="412750"/>
                  <a:pt x="926088" y="467533"/>
                </a:cubicBezTo>
                <a:cubicBezTo>
                  <a:pt x="890958" y="478040"/>
                  <a:pt x="867040" y="499803"/>
                  <a:pt x="843121" y="520815"/>
                </a:cubicBezTo>
                <a:cubicBezTo>
                  <a:pt x="807991" y="534324"/>
                  <a:pt x="779588" y="554586"/>
                  <a:pt x="754922" y="580101"/>
                </a:cubicBezTo>
                <a:cubicBezTo>
                  <a:pt x="733994" y="588356"/>
                  <a:pt x="711570" y="598863"/>
                  <a:pt x="671956" y="597362"/>
                </a:cubicBezTo>
                <a:cubicBezTo>
                  <a:pt x="622624" y="595110"/>
                  <a:pt x="571050" y="590608"/>
                  <a:pt x="536668" y="582353"/>
                </a:cubicBezTo>
                <a:cubicBezTo>
                  <a:pt x="541152" y="618375"/>
                  <a:pt x="518729" y="646141"/>
                  <a:pt x="494811" y="665653"/>
                </a:cubicBezTo>
                <a:cubicBezTo>
                  <a:pt x="484346" y="673908"/>
                  <a:pt x="469397" y="684415"/>
                  <a:pt x="459680" y="676910"/>
                </a:cubicBezTo>
                <a:cubicBezTo>
                  <a:pt x="449964" y="644640"/>
                  <a:pt x="489578" y="632633"/>
                  <a:pt x="473135" y="599613"/>
                </a:cubicBezTo>
                <a:cubicBezTo>
                  <a:pt x="469397" y="603365"/>
                  <a:pt x="470145" y="611620"/>
                  <a:pt x="466408" y="615373"/>
                </a:cubicBezTo>
                <a:cubicBezTo>
                  <a:pt x="446226" y="649894"/>
                  <a:pt x="303464" y="675409"/>
                  <a:pt x="376714" y="617624"/>
                </a:cubicBezTo>
                <a:cubicBezTo>
                  <a:pt x="382693" y="589857"/>
                  <a:pt x="404369" y="572597"/>
                  <a:pt x="407359" y="549333"/>
                </a:cubicBezTo>
                <a:cubicBezTo>
                  <a:pt x="399885" y="539577"/>
                  <a:pt x="381946" y="540327"/>
                  <a:pt x="374471" y="531322"/>
                </a:cubicBezTo>
                <a:cubicBezTo>
                  <a:pt x="248900" y="501304"/>
                  <a:pt x="127066" y="480291"/>
                  <a:pt x="6727" y="445770"/>
                </a:cubicBezTo>
                <a:cubicBezTo>
                  <a:pt x="6727" y="442018"/>
                  <a:pt x="5232" y="439766"/>
                  <a:pt x="2242" y="439016"/>
                </a:cubicBezTo>
                <a:cubicBezTo>
                  <a:pt x="0" y="426258"/>
                  <a:pt x="5980" y="422506"/>
                  <a:pt x="6727" y="412750"/>
                </a:cubicBezTo>
                <a:cubicBezTo>
                  <a:pt x="25413" y="403745"/>
                  <a:pt x="41110" y="397741"/>
                  <a:pt x="68018" y="403745"/>
                </a:cubicBezTo>
                <a:cubicBezTo>
                  <a:pt x="68018" y="395490"/>
                  <a:pt x="74745" y="378980"/>
                  <a:pt x="85209" y="372976"/>
                </a:cubicBezTo>
                <a:cubicBezTo>
                  <a:pt x="63533" y="368473"/>
                  <a:pt x="68765" y="336204"/>
                  <a:pt x="87451" y="331701"/>
                </a:cubicBezTo>
                <a:cubicBezTo>
                  <a:pt x="86704" y="322695"/>
                  <a:pt x="73250" y="327198"/>
                  <a:pt x="70260" y="320444"/>
                </a:cubicBezTo>
                <a:cubicBezTo>
                  <a:pt x="67270" y="313690"/>
                  <a:pt x="68018" y="309187"/>
                  <a:pt x="72502" y="305435"/>
                </a:cubicBezTo>
                <a:cubicBezTo>
                  <a:pt x="55311" y="297930"/>
                  <a:pt x="34383" y="302433"/>
                  <a:pt x="35130" y="280670"/>
                </a:cubicBezTo>
                <a:cubicBezTo>
                  <a:pt x="35878" y="267162"/>
                  <a:pt x="50079" y="266411"/>
                  <a:pt x="61291" y="261158"/>
                </a:cubicBezTo>
                <a:cubicBezTo>
                  <a:pt x="130803" y="227388"/>
                  <a:pt x="212275" y="192116"/>
                  <a:pt x="293000" y="155344"/>
                </a:cubicBezTo>
                <a:cubicBezTo>
                  <a:pt x="342331" y="133581"/>
                  <a:pt x="386431" y="110317"/>
                  <a:pt x="435762" y="90055"/>
                </a:cubicBezTo>
                <a:cubicBezTo>
                  <a:pt x="450711" y="83300"/>
                  <a:pt x="464913" y="78798"/>
                  <a:pt x="479114" y="72044"/>
                </a:cubicBezTo>
                <a:cubicBezTo>
                  <a:pt x="500790" y="62288"/>
                  <a:pt x="517981" y="50280"/>
                  <a:pt x="544890" y="43526"/>
                </a:cubicBezTo>
                <a:cubicBezTo>
                  <a:pt x="547879" y="40525"/>
                  <a:pt x="550869" y="37523"/>
                  <a:pt x="553859" y="34521"/>
                </a:cubicBezTo>
                <a:cubicBezTo>
                  <a:pt x="571798" y="35271"/>
                  <a:pt x="580767" y="21013"/>
                  <a:pt x="595716" y="15009"/>
                </a:cubicBezTo>
                <a:cubicBezTo>
                  <a:pt x="630846" y="0"/>
                  <a:pt x="686905" y="10506"/>
                  <a:pt x="728762" y="15009"/>
                </a:cubicBezTo>
                <a:cubicBezTo>
                  <a:pt x="802759" y="22514"/>
                  <a:pt x="881989" y="39774"/>
                  <a:pt x="956733" y="48029"/>
                </a:cubicBezTo>
                <a:cubicBezTo>
                  <a:pt x="984389" y="51031"/>
                  <a:pt x="1011297" y="47279"/>
                  <a:pt x="1037458" y="50280"/>
                </a:cubicBezTo>
                <a:cubicBezTo>
                  <a:pt x="1097254" y="56284"/>
                  <a:pt x="1155554" y="77297"/>
                  <a:pt x="1201896" y="78798"/>
                </a:cubicBezTo>
                <a:cubicBezTo>
                  <a:pt x="1206381" y="77297"/>
                  <a:pt x="1206381" y="81800"/>
                  <a:pt x="1206381" y="85552"/>
                </a:cubicBezTo>
                <a:close/>
                <a:moveTo>
                  <a:pt x="790052" y="48029"/>
                </a:moveTo>
                <a:cubicBezTo>
                  <a:pt x="742963" y="43526"/>
                  <a:pt x="697369" y="33020"/>
                  <a:pt x="652522" y="28517"/>
                </a:cubicBezTo>
                <a:cubicBezTo>
                  <a:pt x="624119" y="25515"/>
                  <a:pt x="596463" y="39024"/>
                  <a:pt x="575535" y="48029"/>
                </a:cubicBezTo>
                <a:cubicBezTo>
                  <a:pt x="548627" y="60036"/>
                  <a:pt x="521719" y="72794"/>
                  <a:pt x="494811" y="85552"/>
                </a:cubicBezTo>
                <a:cubicBezTo>
                  <a:pt x="464165" y="99810"/>
                  <a:pt x="429783" y="108065"/>
                  <a:pt x="398390" y="122324"/>
                </a:cubicBezTo>
                <a:cubicBezTo>
                  <a:pt x="390168" y="126827"/>
                  <a:pt x="383441" y="133581"/>
                  <a:pt x="374471" y="138084"/>
                </a:cubicBezTo>
                <a:cubicBezTo>
                  <a:pt x="266839" y="187614"/>
                  <a:pt x="152479" y="227388"/>
                  <a:pt x="50079" y="285173"/>
                </a:cubicBezTo>
                <a:cubicBezTo>
                  <a:pt x="93431" y="298681"/>
                  <a:pt x="136036" y="298681"/>
                  <a:pt x="174903" y="303184"/>
                </a:cubicBezTo>
                <a:cubicBezTo>
                  <a:pt x="198074" y="305435"/>
                  <a:pt x="219002" y="312940"/>
                  <a:pt x="240678" y="315941"/>
                </a:cubicBezTo>
                <a:cubicBezTo>
                  <a:pt x="284030" y="322695"/>
                  <a:pt x="328877" y="327949"/>
                  <a:pt x="372229" y="336204"/>
                </a:cubicBezTo>
                <a:cubicBezTo>
                  <a:pt x="419318" y="344459"/>
                  <a:pt x="461923" y="358717"/>
                  <a:pt x="506022" y="369224"/>
                </a:cubicBezTo>
                <a:cubicBezTo>
                  <a:pt x="581514" y="387235"/>
                  <a:pt x="668218" y="384983"/>
                  <a:pt x="726519" y="436765"/>
                </a:cubicBezTo>
                <a:cubicBezTo>
                  <a:pt x="742963" y="457777"/>
                  <a:pt x="739226" y="490047"/>
                  <a:pt x="737731" y="514061"/>
                </a:cubicBezTo>
                <a:cubicBezTo>
                  <a:pt x="720540" y="532072"/>
                  <a:pt x="712318" y="556087"/>
                  <a:pt x="683167" y="557588"/>
                </a:cubicBezTo>
                <a:cubicBezTo>
                  <a:pt x="639068" y="561340"/>
                  <a:pt x="570303" y="538826"/>
                  <a:pt x="532183" y="547081"/>
                </a:cubicBezTo>
                <a:cubicBezTo>
                  <a:pt x="526203" y="565092"/>
                  <a:pt x="550869" y="564342"/>
                  <a:pt x="560586" y="566593"/>
                </a:cubicBezTo>
                <a:cubicBezTo>
                  <a:pt x="586747" y="572597"/>
                  <a:pt x="604685" y="571846"/>
                  <a:pt x="630846" y="573347"/>
                </a:cubicBezTo>
                <a:cubicBezTo>
                  <a:pt x="666724" y="574848"/>
                  <a:pt x="700359" y="586855"/>
                  <a:pt x="731004" y="568845"/>
                </a:cubicBezTo>
                <a:cubicBezTo>
                  <a:pt x="746700" y="546331"/>
                  <a:pt x="766134" y="519315"/>
                  <a:pt x="768376" y="493799"/>
                </a:cubicBezTo>
                <a:cubicBezTo>
                  <a:pt x="771366" y="453275"/>
                  <a:pt x="756417" y="395490"/>
                  <a:pt x="725024" y="379730"/>
                </a:cubicBezTo>
                <a:cubicBezTo>
                  <a:pt x="679430" y="357967"/>
                  <a:pt x="601696" y="354965"/>
                  <a:pt x="536668" y="348961"/>
                </a:cubicBezTo>
                <a:cubicBezTo>
                  <a:pt x="512002" y="346710"/>
                  <a:pt x="476872" y="348961"/>
                  <a:pt x="461923" y="324947"/>
                </a:cubicBezTo>
                <a:cubicBezTo>
                  <a:pt x="476124" y="320444"/>
                  <a:pt x="486589" y="329450"/>
                  <a:pt x="501538" y="331701"/>
                </a:cubicBezTo>
                <a:cubicBezTo>
                  <a:pt x="577030" y="343708"/>
                  <a:pt x="689894" y="333952"/>
                  <a:pt x="742216" y="370725"/>
                </a:cubicBezTo>
                <a:cubicBezTo>
                  <a:pt x="901422" y="290426"/>
                  <a:pt x="1059134" y="208626"/>
                  <a:pt x="1188442" y="98310"/>
                </a:cubicBezTo>
                <a:cubicBezTo>
                  <a:pt x="1062123" y="88554"/>
                  <a:pt x="932815" y="60787"/>
                  <a:pt x="790052" y="48029"/>
                </a:cubicBezTo>
                <a:close/>
                <a:moveTo>
                  <a:pt x="772861" y="538076"/>
                </a:moveTo>
                <a:cubicBezTo>
                  <a:pt x="772114" y="540327"/>
                  <a:pt x="769871" y="543329"/>
                  <a:pt x="772861" y="540327"/>
                </a:cubicBezTo>
                <a:cubicBezTo>
                  <a:pt x="913381" y="449522"/>
                  <a:pt x="1062871" y="368473"/>
                  <a:pt x="1190685" y="265661"/>
                </a:cubicBezTo>
                <a:cubicBezTo>
                  <a:pt x="1210118" y="254404"/>
                  <a:pt x="1240016" y="238645"/>
                  <a:pt x="1256460" y="216881"/>
                </a:cubicBezTo>
                <a:cubicBezTo>
                  <a:pt x="1287853" y="178608"/>
                  <a:pt x="1265429" y="126076"/>
                  <a:pt x="1237026" y="100561"/>
                </a:cubicBezTo>
                <a:cubicBezTo>
                  <a:pt x="1210118" y="99060"/>
                  <a:pt x="1198159" y="121574"/>
                  <a:pt x="1182463" y="133581"/>
                </a:cubicBezTo>
                <a:cubicBezTo>
                  <a:pt x="1156302" y="154594"/>
                  <a:pt x="1124909" y="168102"/>
                  <a:pt x="1100991" y="190615"/>
                </a:cubicBezTo>
                <a:cubicBezTo>
                  <a:pt x="1047175" y="219883"/>
                  <a:pt x="999338" y="252903"/>
                  <a:pt x="947764" y="282921"/>
                </a:cubicBezTo>
                <a:cubicBezTo>
                  <a:pt x="922351" y="298681"/>
                  <a:pt x="894695" y="308437"/>
                  <a:pt x="869282" y="322695"/>
                </a:cubicBezTo>
                <a:cubicBezTo>
                  <a:pt x="860313" y="327949"/>
                  <a:pt x="854333" y="335453"/>
                  <a:pt x="845364" y="339956"/>
                </a:cubicBezTo>
                <a:cubicBezTo>
                  <a:pt x="815466" y="354965"/>
                  <a:pt x="784073" y="363970"/>
                  <a:pt x="759407" y="386484"/>
                </a:cubicBezTo>
                <a:cubicBezTo>
                  <a:pt x="793042" y="427759"/>
                  <a:pt x="797527" y="498302"/>
                  <a:pt x="772861" y="538076"/>
                </a:cubicBezTo>
                <a:close/>
                <a:moveTo>
                  <a:pt x="103148" y="344459"/>
                </a:moveTo>
                <a:cubicBezTo>
                  <a:pt x="148742" y="354965"/>
                  <a:pt x="207791" y="359468"/>
                  <a:pt x="251890" y="364721"/>
                </a:cubicBezTo>
                <a:cubicBezTo>
                  <a:pt x="272071" y="366972"/>
                  <a:pt x="301969" y="365471"/>
                  <a:pt x="308696" y="384233"/>
                </a:cubicBezTo>
                <a:cubicBezTo>
                  <a:pt x="244415" y="374477"/>
                  <a:pt x="168176" y="370725"/>
                  <a:pt x="100905" y="360218"/>
                </a:cubicBezTo>
                <a:cubicBezTo>
                  <a:pt x="100905" y="366972"/>
                  <a:pt x="105390" y="369974"/>
                  <a:pt x="105390" y="377479"/>
                </a:cubicBezTo>
                <a:cubicBezTo>
                  <a:pt x="116602" y="377479"/>
                  <a:pt x="129308" y="384233"/>
                  <a:pt x="144257" y="386484"/>
                </a:cubicBezTo>
                <a:cubicBezTo>
                  <a:pt x="179388" y="391737"/>
                  <a:pt x="223487" y="383482"/>
                  <a:pt x="240678" y="403745"/>
                </a:cubicBezTo>
                <a:cubicBezTo>
                  <a:pt x="197326" y="402244"/>
                  <a:pt x="157712" y="403745"/>
                  <a:pt x="122581" y="397741"/>
                </a:cubicBezTo>
                <a:cubicBezTo>
                  <a:pt x="110622" y="395490"/>
                  <a:pt x="98663" y="384233"/>
                  <a:pt x="87451" y="393238"/>
                </a:cubicBezTo>
                <a:cubicBezTo>
                  <a:pt x="84462" y="412000"/>
                  <a:pt x="112117" y="410499"/>
                  <a:pt x="122581" y="408247"/>
                </a:cubicBezTo>
                <a:cubicBezTo>
                  <a:pt x="223487" y="434513"/>
                  <a:pt x="317665" y="462280"/>
                  <a:pt x="414086" y="481041"/>
                </a:cubicBezTo>
                <a:cubicBezTo>
                  <a:pt x="413339" y="464531"/>
                  <a:pt x="422308" y="439016"/>
                  <a:pt x="442489" y="430761"/>
                </a:cubicBezTo>
                <a:cubicBezTo>
                  <a:pt x="414086" y="421755"/>
                  <a:pt x="378956" y="431511"/>
                  <a:pt x="365502" y="410499"/>
                </a:cubicBezTo>
                <a:cubicBezTo>
                  <a:pt x="407359" y="399992"/>
                  <a:pt x="452953" y="419504"/>
                  <a:pt x="497053" y="426258"/>
                </a:cubicBezTo>
                <a:cubicBezTo>
                  <a:pt x="512749" y="428510"/>
                  <a:pt x="529941" y="425508"/>
                  <a:pt x="544890" y="428510"/>
                </a:cubicBezTo>
                <a:cubicBezTo>
                  <a:pt x="558344" y="430761"/>
                  <a:pt x="572545" y="436765"/>
                  <a:pt x="586747" y="439016"/>
                </a:cubicBezTo>
                <a:cubicBezTo>
                  <a:pt x="603938" y="442018"/>
                  <a:pt x="624119" y="437515"/>
                  <a:pt x="636826" y="450273"/>
                </a:cubicBezTo>
                <a:cubicBezTo>
                  <a:pt x="631593" y="466032"/>
                  <a:pt x="610665" y="456276"/>
                  <a:pt x="595716" y="457027"/>
                </a:cubicBezTo>
                <a:cubicBezTo>
                  <a:pt x="575535" y="482542"/>
                  <a:pt x="532930" y="484794"/>
                  <a:pt x="532183" y="529070"/>
                </a:cubicBezTo>
                <a:cubicBezTo>
                  <a:pt x="583009" y="523817"/>
                  <a:pt x="675693" y="564342"/>
                  <a:pt x="707086" y="516313"/>
                </a:cubicBezTo>
                <a:cubicBezTo>
                  <a:pt x="684662" y="508808"/>
                  <a:pt x="659997" y="516313"/>
                  <a:pt x="645795" y="500553"/>
                </a:cubicBezTo>
                <a:cubicBezTo>
                  <a:pt x="668218" y="498302"/>
                  <a:pt x="722035" y="507307"/>
                  <a:pt x="720540" y="487795"/>
                </a:cubicBezTo>
                <a:cubicBezTo>
                  <a:pt x="702601" y="480291"/>
                  <a:pt x="662986" y="491548"/>
                  <a:pt x="645795" y="472036"/>
                </a:cubicBezTo>
                <a:cubicBezTo>
                  <a:pt x="669713" y="468284"/>
                  <a:pt x="701854" y="469785"/>
                  <a:pt x="718297" y="469785"/>
                </a:cubicBezTo>
                <a:cubicBezTo>
                  <a:pt x="710076" y="422506"/>
                  <a:pt x="661491" y="418754"/>
                  <a:pt x="617392" y="408247"/>
                </a:cubicBezTo>
                <a:cubicBezTo>
                  <a:pt x="445479" y="368473"/>
                  <a:pt x="264597" y="326448"/>
                  <a:pt x="80724" y="307686"/>
                </a:cubicBezTo>
                <a:cubicBezTo>
                  <a:pt x="97916" y="309187"/>
                  <a:pt x="107633" y="327949"/>
                  <a:pt x="103148" y="344459"/>
                </a:cubicBezTo>
                <a:close/>
                <a:moveTo>
                  <a:pt x="223487" y="454775"/>
                </a:moveTo>
                <a:cubicBezTo>
                  <a:pt x="192842" y="445770"/>
                  <a:pt x="162196" y="433012"/>
                  <a:pt x="129308" y="428510"/>
                </a:cubicBezTo>
                <a:cubicBezTo>
                  <a:pt x="93431" y="422506"/>
                  <a:pt x="38867" y="407497"/>
                  <a:pt x="21676" y="432262"/>
                </a:cubicBezTo>
                <a:cubicBezTo>
                  <a:pt x="142015" y="464531"/>
                  <a:pt x="293000" y="490047"/>
                  <a:pt x="414086" y="524568"/>
                </a:cubicBezTo>
                <a:cubicBezTo>
                  <a:pt x="416328" y="513311"/>
                  <a:pt x="414834" y="515562"/>
                  <a:pt x="414086" y="500553"/>
                </a:cubicBezTo>
                <a:cubicBezTo>
                  <a:pt x="349058" y="483293"/>
                  <a:pt x="293000" y="474287"/>
                  <a:pt x="223487" y="454775"/>
                </a:cubicBezTo>
                <a:close/>
                <a:moveTo>
                  <a:pt x="438004" y="459278"/>
                </a:moveTo>
                <a:cubicBezTo>
                  <a:pt x="428288" y="477289"/>
                  <a:pt x="440247" y="510309"/>
                  <a:pt x="433520" y="535825"/>
                </a:cubicBezTo>
                <a:cubicBezTo>
                  <a:pt x="432025" y="541078"/>
                  <a:pt x="426793" y="544080"/>
                  <a:pt x="424550" y="549333"/>
                </a:cubicBezTo>
                <a:cubicBezTo>
                  <a:pt x="420066" y="562841"/>
                  <a:pt x="419318" y="577850"/>
                  <a:pt x="414086" y="588356"/>
                </a:cubicBezTo>
                <a:cubicBezTo>
                  <a:pt x="406612" y="602615"/>
                  <a:pt x="395400" y="614622"/>
                  <a:pt x="389420" y="630382"/>
                </a:cubicBezTo>
                <a:cubicBezTo>
                  <a:pt x="424550" y="625879"/>
                  <a:pt x="464913" y="606367"/>
                  <a:pt x="452953" y="568845"/>
                </a:cubicBezTo>
                <a:cubicBezTo>
                  <a:pt x="459680" y="563591"/>
                  <a:pt x="464913" y="559089"/>
                  <a:pt x="473135" y="559839"/>
                </a:cubicBezTo>
                <a:cubicBezTo>
                  <a:pt x="487336" y="581602"/>
                  <a:pt x="497053" y="613872"/>
                  <a:pt x="488083" y="646141"/>
                </a:cubicBezTo>
                <a:cubicBezTo>
                  <a:pt x="491821" y="637886"/>
                  <a:pt x="499295" y="634134"/>
                  <a:pt x="506022" y="628130"/>
                </a:cubicBezTo>
                <a:cubicBezTo>
                  <a:pt x="527698" y="592109"/>
                  <a:pt x="500043" y="541078"/>
                  <a:pt x="516487" y="502805"/>
                </a:cubicBezTo>
                <a:cubicBezTo>
                  <a:pt x="527698" y="478790"/>
                  <a:pt x="548627" y="469034"/>
                  <a:pt x="571050" y="452524"/>
                </a:cubicBezTo>
                <a:cubicBezTo>
                  <a:pt x="539657" y="439766"/>
                  <a:pt x="493316" y="442018"/>
                  <a:pt x="457438" y="432262"/>
                </a:cubicBezTo>
                <a:cubicBezTo>
                  <a:pt x="456691" y="448021"/>
                  <a:pt x="443984" y="447271"/>
                  <a:pt x="438004" y="459278"/>
                </a:cubicBezTo>
                <a:close/>
              </a:path>
            </a:pathLst>
          </a:custGeom>
          <a:solidFill>
            <a:srgbClr val="4874CB"/>
          </a:solidFill>
          <a:ln/>
        </p:spPr>
      </p:sp>
      <p:sp>
        <p:nvSpPr>
          <p:cNvPr id="19" name="Text 15"/>
          <p:cNvSpPr/>
          <p:nvPr/>
        </p:nvSpPr>
        <p:spPr>
          <a:xfrm>
            <a:off x="10158095" y="3656965"/>
            <a:ext cx="1291590" cy="6769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984365" y="2960370"/>
            <a:ext cx="4901565" cy="920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976630" y="52387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37565" y="120396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Regression?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976630" y="215963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37565" y="283972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Foundations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976630" y="379539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37565" y="447548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Mechanics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976630" y="543115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837565" y="611124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Signals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351905" y="379539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212840" y="447548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Deployment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362065" y="5431155"/>
            <a:ext cx="1894840" cy="101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600" b="1" dirty="0">
                <a:gradFill flip="none" rotWithShape="0">
                  <a:gsLst>
                    <a:gs pos="0">
                      <a:srgbClr val="EDBE32"/>
                    </a:gs>
                    <a:gs pos="38000">
                      <a:srgbClr val="FCD254"/>
                    </a:gs>
                    <a:gs pos="75000">
                      <a:srgbClr val="FFE890">
                        <a:alpha val="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223000" y="6111240"/>
            <a:ext cx="4444365" cy="432991"/>
          </a:xfrm>
          <a:prstGeom prst="rect">
            <a:avLst/>
          </a:prstGeom>
          <a:solidFill>
            <a:srgbClr val="FDF3E9"/>
          </a:solidFill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Limits &amp; Upgrades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Regression?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244600"/>
            <a:ext cx="11988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Forecasting With Regression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2057400"/>
            <a:ext cx="8648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regression turns historical price data into a straight-line trend that projects tomorrow’s most likely closing price.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3556000"/>
            <a:ext cx="0" cy="1676400"/>
          </a:xfrm>
          <a:prstGeom prst="line">
            <a:avLst/>
          </a:prstGeom>
          <a:noFill/>
          <a:ln w="50800">
            <a:solidFill>
              <a:srgbClr val="FCCA45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54000" y="3556000"/>
            <a:ext cx="7327900" cy="1676400"/>
          </a:xfrm>
          <a:custGeom>
            <a:avLst/>
            <a:gdLst/>
            <a:ahLst/>
            <a:cxnLst/>
            <a:rect l="l" t="t" r="r" b="b"/>
            <a:pathLst>
              <a:path w="7327900" h="1676400">
                <a:moveTo>
                  <a:pt x="0" y="0"/>
                </a:moveTo>
                <a:lnTo>
                  <a:pt x="7175498" y="0"/>
                </a:lnTo>
                <a:cubicBezTo>
                  <a:pt x="7259668" y="0"/>
                  <a:pt x="7327900" y="68232"/>
                  <a:pt x="7327900" y="152402"/>
                </a:cubicBezTo>
                <a:lnTo>
                  <a:pt x="7327900" y="1523998"/>
                </a:lnTo>
                <a:cubicBezTo>
                  <a:pt x="7327900" y="1608168"/>
                  <a:pt x="7259668" y="1676400"/>
                  <a:pt x="7175498" y="1676400"/>
                </a:cubicBezTo>
                <a:lnTo>
                  <a:pt x="0" y="1676400"/>
                </a:lnTo>
                <a:lnTo>
                  <a:pt x="0" y="0"/>
                </a:lnTo>
                <a:close/>
              </a:path>
            </a:pathLst>
          </a:custGeom>
          <a:solidFill>
            <a:srgbClr val="2A3A6D">
              <a:alpha val="8627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3860800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Fast &amp; Transparent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4318000"/>
            <a:ext cx="6819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is fast, transparent, and gives every stakeholder an immediate numeric baseline for risk-return decisions.</a:t>
            </a:r>
            <a:endParaRPr lang="en-US" sz="1600" dirty="0"/>
          </a:p>
        </p:txBody>
      </p:sp>
      <p:pic>
        <p:nvPicPr>
          <p:cNvPr id="10" name="Image 0" descr="https://kimi-web-img.moonshot.cn/img/thumbs.dreamstime.com/407de34f4dbcb6577c60dde4d14b4bf9c40ab362.jpg"/>
          <p:cNvPicPr>
            <a:picLocks noChangeAspect="1"/>
          </p:cNvPicPr>
          <p:nvPr/>
        </p:nvPicPr>
        <p:blipFill>
          <a:blip r:embed="rId3"/>
          <a:srcRect t="30276" b="30276"/>
          <a:stretch/>
        </p:blipFill>
        <p:spPr>
          <a:xfrm>
            <a:off x="8043387" y="3175000"/>
            <a:ext cx="3898900" cy="2438400"/>
          </a:xfrm>
          <a:prstGeom prst="roundRect">
            <a:avLst>
              <a:gd name="adj" fmla="val 6250"/>
            </a:avLst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9700" y="1524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Edge Over Gut Feeling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850" y="21336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Regression replaces intuition with evidence.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2895600"/>
            <a:ext cx="3721100" cy="2438400"/>
          </a:xfrm>
          <a:custGeom>
            <a:avLst/>
            <a:gdLst/>
            <a:ahLst/>
            <a:cxnLst/>
            <a:rect l="l" t="t" r="r" b="b"/>
            <a:pathLst>
              <a:path w="3721100" h="2438400">
                <a:moveTo>
                  <a:pt x="101608" y="0"/>
                </a:moveTo>
                <a:lnTo>
                  <a:pt x="3619492" y="0"/>
                </a:lnTo>
                <a:cubicBezTo>
                  <a:pt x="3675608" y="0"/>
                  <a:pt x="3721100" y="45492"/>
                  <a:pt x="3721100" y="101608"/>
                </a:cubicBezTo>
                <a:lnTo>
                  <a:pt x="3721100" y="2336792"/>
                </a:lnTo>
                <a:cubicBezTo>
                  <a:pt x="3721100" y="2392908"/>
                  <a:pt x="3675608" y="2438400"/>
                  <a:pt x="36194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88014" y="3200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57150"/>
                </a:moveTo>
                <a:cubicBezTo>
                  <a:pt x="57150" y="41344"/>
                  <a:pt x="44381" y="28575"/>
                  <a:pt x="28575" y="28575"/>
                </a:cubicBezTo>
                <a:cubicBezTo>
                  <a:pt x="12769" y="28575"/>
                  <a:pt x="0" y="41344"/>
                  <a:pt x="0" y="57150"/>
                </a:cubicBezTo>
                <a:lnTo>
                  <a:pt x="0" y="357188"/>
                </a:lnTo>
                <a:cubicBezTo>
                  <a:pt x="0" y="396657"/>
                  <a:pt x="31968" y="428625"/>
                  <a:pt x="71438" y="428625"/>
                </a:cubicBezTo>
                <a:lnTo>
                  <a:pt x="428625" y="428625"/>
                </a:lnTo>
                <a:cubicBezTo>
                  <a:pt x="444431" y="428625"/>
                  <a:pt x="457200" y="415856"/>
                  <a:pt x="457200" y="400050"/>
                </a:cubicBezTo>
                <a:cubicBezTo>
                  <a:pt x="457200" y="384244"/>
                  <a:pt x="444431" y="371475"/>
                  <a:pt x="428625" y="371475"/>
                </a:cubicBezTo>
                <a:lnTo>
                  <a:pt x="71438" y="371475"/>
                </a:lnTo>
                <a:cubicBezTo>
                  <a:pt x="63579" y="371475"/>
                  <a:pt x="57150" y="365046"/>
                  <a:pt x="57150" y="357188"/>
                </a:cubicBezTo>
                <a:lnTo>
                  <a:pt x="57150" y="57150"/>
                </a:lnTo>
                <a:close/>
                <a:moveTo>
                  <a:pt x="420231" y="134481"/>
                </a:moveTo>
                <a:cubicBezTo>
                  <a:pt x="431393" y="123319"/>
                  <a:pt x="431393" y="105192"/>
                  <a:pt x="420231" y="94030"/>
                </a:cubicBezTo>
                <a:cubicBezTo>
                  <a:pt x="409069" y="82867"/>
                  <a:pt x="390942" y="82867"/>
                  <a:pt x="379780" y="94030"/>
                </a:cubicBezTo>
                <a:lnTo>
                  <a:pt x="285750" y="188149"/>
                </a:lnTo>
                <a:lnTo>
                  <a:pt x="234494" y="136981"/>
                </a:lnTo>
                <a:cubicBezTo>
                  <a:pt x="223331" y="125819"/>
                  <a:pt x="205204" y="125819"/>
                  <a:pt x="194042" y="136981"/>
                </a:cubicBezTo>
                <a:lnTo>
                  <a:pt x="108317" y="222706"/>
                </a:lnTo>
                <a:cubicBezTo>
                  <a:pt x="97155" y="233869"/>
                  <a:pt x="97155" y="251996"/>
                  <a:pt x="108317" y="263158"/>
                </a:cubicBezTo>
                <a:cubicBezTo>
                  <a:pt x="119479" y="274320"/>
                  <a:pt x="137606" y="274320"/>
                  <a:pt x="148769" y="263158"/>
                </a:cubicBezTo>
                <a:lnTo>
                  <a:pt x="214313" y="197614"/>
                </a:lnTo>
                <a:lnTo>
                  <a:pt x="265569" y="248870"/>
                </a:lnTo>
                <a:cubicBezTo>
                  <a:pt x="276731" y="260033"/>
                  <a:pt x="294858" y="260033"/>
                  <a:pt x="306020" y="248870"/>
                </a:cubicBezTo>
                <a:lnTo>
                  <a:pt x="420320" y="13457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8" name="Text 6"/>
          <p:cNvSpPr/>
          <p:nvPr/>
        </p:nvSpPr>
        <p:spPr>
          <a:xfrm>
            <a:off x="1093311" y="38100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Directional Bias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350" y="42672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r>
              <a:rPr lang="en-US" sz="1400" b="1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slope </a:t>
            </a: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equals directional bias, providing a clear trend indicator.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33386" y="2895600"/>
            <a:ext cx="3721100" cy="2438400"/>
          </a:xfrm>
          <a:custGeom>
            <a:avLst/>
            <a:gdLst/>
            <a:ahLst/>
            <a:cxnLst/>
            <a:rect l="l" t="t" r="r" b="b"/>
            <a:pathLst>
              <a:path w="3721100" h="2438400">
                <a:moveTo>
                  <a:pt x="101608" y="0"/>
                </a:moveTo>
                <a:lnTo>
                  <a:pt x="3619492" y="0"/>
                </a:lnTo>
                <a:cubicBezTo>
                  <a:pt x="3675608" y="0"/>
                  <a:pt x="3721100" y="45492"/>
                  <a:pt x="3721100" y="101608"/>
                </a:cubicBezTo>
                <a:lnTo>
                  <a:pt x="3721100" y="2336792"/>
                </a:lnTo>
                <a:cubicBezTo>
                  <a:pt x="3721100" y="2392908"/>
                  <a:pt x="3675608" y="2438400"/>
                  <a:pt x="36194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6981A4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38825" y="32004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-14287"/>
                </a:moveTo>
                <a:cubicBezTo>
                  <a:pt x="272981" y="-14287"/>
                  <a:pt x="285750" y="-1518"/>
                  <a:pt x="285750" y="14288"/>
                </a:cubicBezTo>
                <a:lnTo>
                  <a:pt x="285750" y="30629"/>
                </a:lnTo>
                <a:cubicBezTo>
                  <a:pt x="373350" y="43130"/>
                  <a:pt x="442645" y="112425"/>
                  <a:pt x="455146" y="200025"/>
                </a:cubicBezTo>
                <a:lnTo>
                  <a:pt x="471488" y="200025"/>
                </a:lnTo>
                <a:cubicBezTo>
                  <a:pt x="487293" y="200025"/>
                  <a:pt x="500063" y="212794"/>
                  <a:pt x="500063" y="228600"/>
                </a:cubicBezTo>
                <a:cubicBezTo>
                  <a:pt x="500063" y="244406"/>
                  <a:pt x="487293" y="257175"/>
                  <a:pt x="471488" y="257175"/>
                </a:cubicBezTo>
                <a:lnTo>
                  <a:pt x="455146" y="257175"/>
                </a:lnTo>
                <a:cubicBezTo>
                  <a:pt x="442645" y="344775"/>
                  <a:pt x="373350" y="414070"/>
                  <a:pt x="285750" y="426571"/>
                </a:cubicBezTo>
                <a:lnTo>
                  <a:pt x="285750" y="442913"/>
                </a:lnTo>
                <a:cubicBezTo>
                  <a:pt x="285750" y="458718"/>
                  <a:pt x="272981" y="471488"/>
                  <a:pt x="257175" y="471488"/>
                </a:cubicBezTo>
                <a:cubicBezTo>
                  <a:pt x="241369" y="471488"/>
                  <a:pt x="228600" y="458718"/>
                  <a:pt x="228600" y="442913"/>
                </a:cubicBezTo>
                <a:lnTo>
                  <a:pt x="228600" y="426571"/>
                </a:lnTo>
                <a:cubicBezTo>
                  <a:pt x="141000" y="414070"/>
                  <a:pt x="71705" y="344775"/>
                  <a:pt x="59204" y="257175"/>
                </a:cubicBezTo>
                <a:lnTo>
                  <a:pt x="42863" y="257175"/>
                </a:lnTo>
                <a:cubicBezTo>
                  <a:pt x="27057" y="257175"/>
                  <a:pt x="14288" y="244406"/>
                  <a:pt x="14288" y="228600"/>
                </a:cubicBezTo>
                <a:cubicBezTo>
                  <a:pt x="14288" y="212794"/>
                  <a:pt x="27057" y="200025"/>
                  <a:pt x="42863" y="200025"/>
                </a:cubicBezTo>
                <a:lnTo>
                  <a:pt x="59204" y="200025"/>
                </a:lnTo>
                <a:cubicBezTo>
                  <a:pt x="71705" y="112425"/>
                  <a:pt x="141000" y="43130"/>
                  <a:pt x="228600" y="30629"/>
                </a:cubicBezTo>
                <a:lnTo>
                  <a:pt x="228600" y="14288"/>
                </a:lnTo>
                <a:cubicBezTo>
                  <a:pt x="228600" y="-1518"/>
                  <a:pt x="241369" y="-14287"/>
                  <a:pt x="257175" y="-14287"/>
                </a:cubicBezTo>
                <a:close/>
                <a:moveTo>
                  <a:pt x="117157" y="257175"/>
                </a:moveTo>
                <a:cubicBezTo>
                  <a:pt x="128498" y="313164"/>
                  <a:pt x="172611" y="357277"/>
                  <a:pt x="228600" y="368618"/>
                </a:cubicBezTo>
                <a:lnTo>
                  <a:pt x="228600" y="357188"/>
                </a:lnTo>
                <a:cubicBezTo>
                  <a:pt x="228600" y="341382"/>
                  <a:pt x="241369" y="328613"/>
                  <a:pt x="257175" y="328613"/>
                </a:cubicBezTo>
                <a:cubicBezTo>
                  <a:pt x="272981" y="328613"/>
                  <a:pt x="285750" y="341382"/>
                  <a:pt x="285750" y="357188"/>
                </a:cubicBezTo>
                <a:lnTo>
                  <a:pt x="285750" y="368618"/>
                </a:lnTo>
                <a:cubicBezTo>
                  <a:pt x="341739" y="357277"/>
                  <a:pt x="385852" y="313164"/>
                  <a:pt x="397193" y="257175"/>
                </a:cubicBezTo>
                <a:lnTo>
                  <a:pt x="385763" y="257175"/>
                </a:lnTo>
                <a:cubicBezTo>
                  <a:pt x="369957" y="257175"/>
                  <a:pt x="357188" y="244406"/>
                  <a:pt x="357188" y="228600"/>
                </a:cubicBezTo>
                <a:cubicBezTo>
                  <a:pt x="357188" y="212794"/>
                  <a:pt x="369957" y="200025"/>
                  <a:pt x="385763" y="200025"/>
                </a:cubicBezTo>
                <a:lnTo>
                  <a:pt x="397193" y="200025"/>
                </a:lnTo>
                <a:cubicBezTo>
                  <a:pt x="385852" y="144036"/>
                  <a:pt x="341739" y="99923"/>
                  <a:pt x="285750" y="88583"/>
                </a:cubicBezTo>
                <a:lnTo>
                  <a:pt x="285750" y="100013"/>
                </a:lnTo>
                <a:cubicBezTo>
                  <a:pt x="285750" y="115818"/>
                  <a:pt x="272981" y="128588"/>
                  <a:pt x="257175" y="128588"/>
                </a:cubicBezTo>
                <a:cubicBezTo>
                  <a:pt x="241369" y="128588"/>
                  <a:pt x="228600" y="115818"/>
                  <a:pt x="228600" y="100013"/>
                </a:cubicBezTo>
                <a:lnTo>
                  <a:pt x="228600" y="88583"/>
                </a:lnTo>
                <a:cubicBezTo>
                  <a:pt x="172611" y="99923"/>
                  <a:pt x="128498" y="144036"/>
                  <a:pt x="117157" y="200025"/>
                </a:cubicBezTo>
                <a:lnTo>
                  <a:pt x="128588" y="200025"/>
                </a:lnTo>
                <a:cubicBezTo>
                  <a:pt x="144393" y="200025"/>
                  <a:pt x="157163" y="212794"/>
                  <a:pt x="157163" y="228600"/>
                </a:cubicBezTo>
                <a:cubicBezTo>
                  <a:pt x="157163" y="244406"/>
                  <a:pt x="144393" y="257175"/>
                  <a:pt x="128588" y="257175"/>
                </a:cubicBezTo>
                <a:lnTo>
                  <a:pt x="117157" y="257175"/>
                </a:lnTo>
                <a:close/>
                <a:moveTo>
                  <a:pt x="257175" y="185738"/>
                </a:moveTo>
                <a:cubicBezTo>
                  <a:pt x="280831" y="185738"/>
                  <a:pt x="300038" y="204944"/>
                  <a:pt x="300038" y="228600"/>
                </a:cubicBezTo>
                <a:cubicBezTo>
                  <a:pt x="300038" y="252256"/>
                  <a:pt x="280831" y="271463"/>
                  <a:pt x="257175" y="271463"/>
                </a:cubicBezTo>
                <a:cubicBezTo>
                  <a:pt x="233519" y="271463"/>
                  <a:pt x="214313" y="252256"/>
                  <a:pt x="214313" y="228600"/>
                </a:cubicBezTo>
                <a:cubicBezTo>
                  <a:pt x="214313" y="204944"/>
                  <a:pt x="233519" y="185738"/>
                  <a:pt x="257175" y="185738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2" name="Text 10"/>
          <p:cNvSpPr/>
          <p:nvPr/>
        </p:nvSpPr>
        <p:spPr>
          <a:xfrm>
            <a:off x="5425440" y="3810000"/>
            <a:ext cx="134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981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Fair Value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93736" y="42672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r>
              <a:rPr lang="en-US" sz="1400" b="1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intercept </a:t>
            </a: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equals fair value, anchoring the forecast to a fundamental level.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12772" y="2895600"/>
            <a:ext cx="3721100" cy="2438400"/>
          </a:xfrm>
          <a:custGeom>
            <a:avLst/>
            <a:gdLst/>
            <a:ahLst/>
            <a:cxnLst/>
            <a:rect l="l" t="t" r="r" b="b"/>
            <a:pathLst>
              <a:path w="3721100" h="2438400">
                <a:moveTo>
                  <a:pt x="101608" y="0"/>
                </a:moveTo>
                <a:lnTo>
                  <a:pt x="3619492" y="0"/>
                </a:lnTo>
                <a:cubicBezTo>
                  <a:pt x="3675608" y="0"/>
                  <a:pt x="3721100" y="45492"/>
                  <a:pt x="3721100" y="101608"/>
                </a:cubicBezTo>
                <a:lnTo>
                  <a:pt x="3721100" y="2336792"/>
                </a:lnTo>
                <a:cubicBezTo>
                  <a:pt x="3721100" y="2392908"/>
                  <a:pt x="3675608" y="2438400"/>
                  <a:pt x="3619492" y="2438400"/>
                </a:cubicBezTo>
                <a:lnTo>
                  <a:pt x="101608" y="2438400"/>
                </a:lnTo>
                <a:cubicBezTo>
                  <a:pt x="45492" y="2438400"/>
                  <a:pt x="0" y="2392908"/>
                  <a:pt x="0" y="23367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EE6172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362" y="32004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893" y="394424"/>
                </a:moveTo>
                <a:cubicBezTo>
                  <a:pt x="4911" y="413891"/>
                  <a:pt x="22146" y="428625"/>
                  <a:pt x="42863" y="428625"/>
                </a:cubicBezTo>
                <a:lnTo>
                  <a:pt x="357188" y="428625"/>
                </a:lnTo>
                <a:cubicBezTo>
                  <a:pt x="380851" y="428625"/>
                  <a:pt x="400050" y="409426"/>
                  <a:pt x="400050" y="385763"/>
                </a:cubicBezTo>
                <a:lnTo>
                  <a:pt x="400050" y="300038"/>
                </a:lnTo>
                <a:cubicBezTo>
                  <a:pt x="400050" y="276374"/>
                  <a:pt x="380851" y="257175"/>
                  <a:pt x="357188" y="257175"/>
                </a:cubicBezTo>
                <a:lnTo>
                  <a:pt x="314325" y="257175"/>
                </a:lnTo>
                <a:lnTo>
                  <a:pt x="314325" y="321469"/>
                </a:lnTo>
                <a:cubicBezTo>
                  <a:pt x="314325" y="333345"/>
                  <a:pt x="304770" y="342900"/>
                  <a:pt x="292894" y="342900"/>
                </a:cubicBezTo>
                <a:cubicBezTo>
                  <a:pt x="281017" y="342900"/>
                  <a:pt x="271463" y="333345"/>
                  <a:pt x="271463" y="321469"/>
                </a:cubicBezTo>
                <a:lnTo>
                  <a:pt x="271463" y="257175"/>
                </a:lnTo>
                <a:lnTo>
                  <a:pt x="214313" y="257175"/>
                </a:lnTo>
                <a:lnTo>
                  <a:pt x="214313" y="321469"/>
                </a:lnTo>
                <a:cubicBezTo>
                  <a:pt x="214313" y="333345"/>
                  <a:pt x="204758" y="342900"/>
                  <a:pt x="192881" y="342900"/>
                </a:cubicBezTo>
                <a:cubicBezTo>
                  <a:pt x="181005" y="342900"/>
                  <a:pt x="171450" y="333345"/>
                  <a:pt x="171450" y="321469"/>
                </a:cubicBezTo>
                <a:lnTo>
                  <a:pt x="171450" y="257175"/>
                </a:lnTo>
                <a:lnTo>
                  <a:pt x="107156" y="257175"/>
                </a:lnTo>
                <a:cubicBezTo>
                  <a:pt x="95280" y="257175"/>
                  <a:pt x="85725" y="247620"/>
                  <a:pt x="85725" y="235744"/>
                </a:cubicBezTo>
                <a:cubicBezTo>
                  <a:pt x="85725" y="223867"/>
                  <a:pt x="95280" y="214313"/>
                  <a:pt x="107156" y="214313"/>
                </a:cubicBezTo>
                <a:lnTo>
                  <a:pt x="171450" y="214313"/>
                </a:lnTo>
                <a:lnTo>
                  <a:pt x="171450" y="157163"/>
                </a:lnTo>
                <a:lnTo>
                  <a:pt x="107156" y="157163"/>
                </a:lnTo>
                <a:cubicBezTo>
                  <a:pt x="95280" y="157163"/>
                  <a:pt x="85725" y="147608"/>
                  <a:pt x="85725" y="135731"/>
                </a:cubicBezTo>
                <a:cubicBezTo>
                  <a:pt x="85725" y="123855"/>
                  <a:pt x="95280" y="114300"/>
                  <a:pt x="107156" y="114300"/>
                </a:cubicBezTo>
                <a:lnTo>
                  <a:pt x="171450" y="114300"/>
                </a:lnTo>
                <a:lnTo>
                  <a:pt x="171450" y="71438"/>
                </a:lnTo>
                <a:cubicBezTo>
                  <a:pt x="171450" y="47774"/>
                  <a:pt x="152251" y="28575"/>
                  <a:pt x="128588" y="28575"/>
                </a:cubicBezTo>
                <a:lnTo>
                  <a:pt x="42863" y="28575"/>
                </a:lnTo>
                <a:cubicBezTo>
                  <a:pt x="19199" y="28575"/>
                  <a:pt x="0" y="47774"/>
                  <a:pt x="0" y="71438"/>
                </a:cubicBezTo>
                <a:lnTo>
                  <a:pt x="0" y="385763"/>
                </a:lnTo>
                <a:cubicBezTo>
                  <a:pt x="0" y="388709"/>
                  <a:pt x="268" y="391656"/>
                  <a:pt x="893" y="394424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6" name="Text 14"/>
          <p:cNvSpPr/>
          <p:nvPr/>
        </p:nvSpPr>
        <p:spPr>
          <a:xfrm>
            <a:off x="9320213" y="3810000"/>
            <a:ext cx="151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E61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Range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73122" y="4267200"/>
            <a:ext cx="3200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Error bands </a:t>
            </a: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equal the risk range, quantifying uncertainty for objective position sizing.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Foundations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2362200"/>
            <a:ext cx="47371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Curating Clean Price History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3581400"/>
            <a:ext cx="4610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robust model requires pristine data. Ensure the model learns true market signals, not data artifacts.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71440" y="2362200"/>
            <a:ext cx="6769100" cy="609600"/>
          </a:xfrm>
          <a:custGeom>
            <a:avLst/>
            <a:gdLst/>
            <a:ahLst/>
            <a:cxnLst/>
            <a:rect l="l" t="t" r="r" b="b"/>
            <a:pathLst>
              <a:path w="6769100" h="609600">
                <a:moveTo>
                  <a:pt x="101602" y="0"/>
                </a:moveTo>
                <a:lnTo>
                  <a:pt x="6667498" y="0"/>
                </a:lnTo>
                <a:cubicBezTo>
                  <a:pt x="6723611" y="0"/>
                  <a:pt x="6769100" y="45489"/>
                  <a:pt x="6769100" y="101602"/>
                </a:cubicBezTo>
                <a:lnTo>
                  <a:pt x="6769100" y="507998"/>
                </a:lnTo>
                <a:cubicBezTo>
                  <a:pt x="6769100" y="564111"/>
                  <a:pt x="6723611" y="609600"/>
                  <a:pt x="66674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25440" y="2514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8" name="Text 6"/>
          <p:cNvSpPr/>
          <p:nvPr/>
        </p:nvSpPr>
        <p:spPr>
          <a:xfrm>
            <a:off x="5984240" y="2514600"/>
            <a:ext cx="411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dividend-adjusted OHLCV data.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71440" y="3124200"/>
            <a:ext cx="6769100" cy="609600"/>
          </a:xfrm>
          <a:custGeom>
            <a:avLst/>
            <a:gdLst/>
            <a:ahLst/>
            <a:cxnLst/>
            <a:rect l="l" t="t" r="r" b="b"/>
            <a:pathLst>
              <a:path w="6769100" h="609600">
                <a:moveTo>
                  <a:pt x="101602" y="0"/>
                </a:moveTo>
                <a:lnTo>
                  <a:pt x="6667498" y="0"/>
                </a:lnTo>
                <a:cubicBezTo>
                  <a:pt x="6723611" y="0"/>
                  <a:pt x="6769100" y="45489"/>
                  <a:pt x="6769100" y="101602"/>
                </a:cubicBezTo>
                <a:lnTo>
                  <a:pt x="6769100" y="507998"/>
                </a:lnTo>
                <a:cubicBezTo>
                  <a:pt x="6769100" y="564111"/>
                  <a:pt x="6723611" y="609600"/>
                  <a:pt x="66674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6981A4">
              <a:alpha val="1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44490" y="3276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81379" y="3512"/>
                </a:moveTo>
                <a:cubicBezTo>
                  <a:pt x="83999" y="-4286"/>
                  <a:pt x="91261" y="-9525"/>
                  <a:pt x="99477" y="-9525"/>
                </a:cubicBezTo>
                <a:lnTo>
                  <a:pt x="167283" y="-9525"/>
                </a:lnTo>
                <a:cubicBezTo>
                  <a:pt x="175498" y="-9525"/>
                  <a:pt x="182761" y="-4286"/>
                  <a:pt x="185380" y="3512"/>
                </a:cubicBezTo>
                <a:lnTo>
                  <a:pt x="190500" y="19050"/>
                </a:lnTo>
                <a:lnTo>
                  <a:pt x="247650" y="19050"/>
                </a:lnTo>
                <a:cubicBezTo>
                  <a:pt x="258187" y="19050"/>
                  <a:pt x="266700" y="27563"/>
                  <a:pt x="266700" y="38100"/>
                </a:cubicBezTo>
                <a:cubicBezTo>
                  <a:pt x="266700" y="48637"/>
                  <a:pt x="258187" y="57150"/>
                  <a:pt x="247650" y="57150"/>
                </a:cubicBezTo>
                <a:lnTo>
                  <a:pt x="19050" y="57150"/>
                </a:lnTo>
                <a:cubicBezTo>
                  <a:pt x="8513" y="57150"/>
                  <a:pt x="0" y="48637"/>
                  <a:pt x="0" y="38100"/>
                </a:cubicBezTo>
                <a:cubicBezTo>
                  <a:pt x="0" y="27563"/>
                  <a:pt x="8513" y="19050"/>
                  <a:pt x="19050" y="19050"/>
                </a:cubicBezTo>
                <a:lnTo>
                  <a:pt x="76200" y="19050"/>
                </a:lnTo>
                <a:lnTo>
                  <a:pt x="81379" y="3512"/>
                </a:lnTo>
                <a:close/>
                <a:moveTo>
                  <a:pt x="19050" y="85725"/>
                </a:moveTo>
                <a:lnTo>
                  <a:pt x="247650" y="85725"/>
                </a:lnTo>
                <a:lnTo>
                  <a:pt x="247650" y="266700"/>
                </a:lnTo>
                <a:cubicBezTo>
                  <a:pt x="247650" y="287715"/>
                  <a:pt x="230565" y="304800"/>
                  <a:pt x="209550" y="304800"/>
                </a:cubicBezTo>
                <a:lnTo>
                  <a:pt x="57150" y="304800"/>
                </a:lnTo>
                <a:cubicBezTo>
                  <a:pt x="36135" y="304800"/>
                  <a:pt x="19050" y="287715"/>
                  <a:pt x="19050" y="266700"/>
                </a:cubicBezTo>
                <a:lnTo>
                  <a:pt x="19050" y="85725"/>
                </a:lnTo>
                <a:close/>
                <a:moveTo>
                  <a:pt x="71438" y="123825"/>
                </a:moveTo>
                <a:cubicBezTo>
                  <a:pt x="63520" y="123825"/>
                  <a:pt x="57150" y="130195"/>
                  <a:pt x="57150" y="138113"/>
                </a:cubicBezTo>
                <a:lnTo>
                  <a:pt x="57150" y="252413"/>
                </a:lnTo>
                <a:cubicBezTo>
                  <a:pt x="57150" y="260330"/>
                  <a:pt x="63520" y="266700"/>
                  <a:pt x="71438" y="266700"/>
                </a:cubicBezTo>
                <a:cubicBezTo>
                  <a:pt x="79355" y="266700"/>
                  <a:pt x="85725" y="260330"/>
                  <a:pt x="85725" y="252413"/>
                </a:cubicBezTo>
                <a:lnTo>
                  <a:pt x="85725" y="138113"/>
                </a:lnTo>
                <a:cubicBezTo>
                  <a:pt x="85725" y="130195"/>
                  <a:pt x="79355" y="123825"/>
                  <a:pt x="71438" y="123825"/>
                </a:cubicBezTo>
                <a:close/>
                <a:moveTo>
                  <a:pt x="133350" y="123825"/>
                </a:moveTo>
                <a:cubicBezTo>
                  <a:pt x="125432" y="123825"/>
                  <a:pt x="119062" y="130195"/>
                  <a:pt x="119062" y="138113"/>
                </a:cubicBezTo>
                <a:lnTo>
                  <a:pt x="119062" y="252413"/>
                </a:lnTo>
                <a:cubicBezTo>
                  <a:pt x="119062" y="260330"/>
                  <a:pt x="125432" y="266700"/>
                  <a:pt x="133350" y="266700"/>
                </a:cubicBezTo>
                <a:cubicBezTo>
                  <a:pt x="141268" y="266700"/>
                  <a:pt x="147638" y="260330"/>
                  <a:pt x="147638" y="252413"/>
                </a:cubicBezTo>
                <a:lnTo>
                  <a:pt x="147638" y="138113"/>
                </a:lnTo>
                <a:cubicBezTo>
                  <a:pt x="147638" y="130195"/>
                  <a:pt x="141268" y="123825"/>
                  <a:pt x="133350" y="123825"/>
                </a:cubicBezTo>
                <a:close/>
                <a:moveTo>
                  <a:pt x="195263" y="123825"/>
                </a:moveTo>
                <a:cubicBezTo>
                  <a:pt x="187345" y="123825"/>
                  <a:pt x="180975" y="130195"/>
                  <a:pt x="180975" y="138113"/>
                </a:cubicBezTo>
                <a:lnTo>
                  <a:pt x="180975" y="252413"/>
                </a:lnTo>
                <a:cubicBezTo>
                  <a:pt x="180975" y="260330"/>
                  <a:pt x="187345" y="266700"/>
                  <a:pt x="195263" y="266700"/>
                </a:cubicBezTo>
                <a:cubicBezTo>
                  <a:pt x="203180" y="266700"/>
                  <a:pt x="209550" y="260330"/>
                  <a:pt x="209550" y="252413"/>
                </a:cubicBezTo>
                <a:lnTo>
                  <a:pt x="209550" y="138113"/>
                </a:lnTo>
                <a:cubicBezTo>
                  <a:pt x="209550" y="130195"/>
                  <a:pt x="203180" y="123825"/>
                  <a:pt x="195263" y="123825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1" name="Text 9"/>
          <p:cNvSpPr/>
          <p:nvPr/>
        </p:nvSpPr>
        <p:spPr>
          <a:xfrm>
            <a:off x="5984240" y="32766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Drop missing dates and normalize for splits.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1440" y="3886200"/>
            <a:ext cx="6769100" cy="609600"/>
          </a:xfrm>
          <a:custGeom>
            <a:avLst/>
            <a:gdLst/>
            <a:ahLst/>
            <a:cxnLst/>
            <a:rect l="l" t="t" r="r" b="b"/>
            <a:pathLst>
              <a:path w="6769100" h="609600">
                <a:moveTo>
                  <a:pt x="101602" y="0"/>
                </a:moveTo>
                <a:lnTo>
                  <a:pt x="6667498" y="0"/>
                </a:lnTo>
                <a:cubicBezTo>
                  <a:pt x="6723611" y="0"/>
                  <a:pt x="6769100" y="45489"/>
                  <a:pt x="6769100" y="101602"/>
                </a:cubicBezTo>
                <a:lnTo>
                  <a:pt x="6769100" y="507998"/>
                </a:lnTo>
                <a:cubicBezTo>
                  <a:pt x="6769100" y="564111"/>
                  <a:pt x="6723611" y="609600"/>
                  <a:pt x="66674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E6172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25440" y="403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38100"/>
                </a:moveTo>
                <a:cubicBezTo>
                  <a:pt x="11370" y="38100"/>
                  <a:pt x="4405" y="42743"/>
                  <a:pt x="1429" y="49887"/>
                </a:cubicBezTo>
                <a:cubicBezTo>
                  <a:pt x="-1548" y="57031"/>
                  <a:pt x="119" y="65187"/>
                  <a:pt x="5596" y="70604"/>
                </a:cubicBezTo>
                <a:lnTo>
                  <a:pt x="114300" y="179368"/>
                </a:lnTo>
                <a:lnTo>
                  <a:pt x="114300" y="247650"/>
                </a:lnTo>
                <a:cubicBezTo>
                  <a:pt x="114300" y="252710"/>
                  <a:pt x="116324" y="257532"/>
                  <a:pt x="119896" y="261104"/>
                </a:cubicBezTo>
                <a:lnTo>
                  <a:pt x="157996" y="299204"/>
                </a:lnTo>
                <a:cubicBezTo>
                  <a:pt x="163473" y="304681"/>
                  <a:pt x="171629" y="306288"/>
                  <a:pt x="178772" y="303312"/>
                </a:cubicBezTo>
                <a:cubicBezTo>
                  <a:pt x="185916" y="300335"/>
                  <a:pt x="190500" y="293430"/>
                  <a:pt x="190500" y="285750"/>
                </a:cubicBezTo>
                <a:lnTo>
                  <a:pt x="190500" y="179368"/>
                </a:lnTo>
                <a:lnTo>
                  <a:pt x="299204" y="70664"/>
                </a:lnTo>
                <a:cubicBezTo>
                  <a:pt x="304681" y="65187"/>
                  <a:pt x="306288" y="57031"/>
                  <a:pt x="303312" y="49887"/>
                </a:cubicBezTo>
                <a:cubicBezTo>
                  <a:pt x="300335" y="42743"/>
                  <a:pt x="293430" y="38100"/>
                  <a:pt x="285750" y="38100"/>
                </a:cubicBezTo>
                <a:lnTo>
                  <a:pt x="19050" y="3810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4" name="Text 12"/>
          <p:cNvSpPr/>
          <p:nvPr/>
        </p:nvSpPr>
        <p:spPr>
          <a:xfrm>
            <a:off x="5984240" y="4038600"/>
            <a:ext cx="504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Remove outliers beyond three standard deviations.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web-img.moonshot.cn/img/thumbs.dreamstime.com/a9388f99bac215d97632b23c0d86d020c85d983b.jpg"/>
          <p:cNvPicPr>
            <a:picLocks noChangeAspect="1"/>
          </p:cNvPicPr>
          <p:nvPr/>
        </p:nvPicPr>
        <p:blipFill>
          <a:blip r:embed="rId3"/>
          <a:srcRect l="25025" r="25025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2703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99200" y="1752600"/>
            <a:ext cx="5867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Choosing Predictive Features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200" y="29718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Engineer features that capture momentum, mean-reversion, and seasonality without overfitting.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91275" y="3911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7835" y="138212"/>
                </a:moveTo>
                <a:cubicBezTo>
                  <a:pt x="224036" y="132011"/>
                  <a:pt x="224036" y="121940"/>
                  <a:pt x="217835" y="115739"/>
                </a:cubicBezTo>
                <a:lnTo>
                  <a:pt x="138460" y="36364"/>
                </a:lnTo>
                <a:cubicBezTo>
                  <a:pt x="132259" y="30163"/>
                  <a:pt x="122188" y="30163"/>
                  <a:pt x="115987" y="36364"/>
                </a:cubicBezTo>
                <a:cubicBezTo>
                  <a:pt x="109786" y="42565"/>
                  <a:pt x="109786" y="52636"/>
                  <a:pt x="115987" y="58837"/>
                </a:cubicBezTo>
                <a:lnTo>
                  <a:pt x="184150" y="127000"/>
                </a:lnTo>
                <a:lnTo>
                  <a:pt x="116036" y="195163"/>
                </a:lnTo>
                <a:cubicBezTo>
                  <a:pt x="109835" y="201364"/>
                  <a:pt x="109835" y="211435"/>
                  <a:pt x="116036" y="217636"/>
                </a:cubicBezTo>
                <a:cubicBezTo>
                  <a:pt x="122238" y="223838"/>
                  <a:pt x="132308" y="223838"/>
                  <a:pt x="138509" y="217636"/>
                </a:cubicBezTo>
                <a:lnTo>
                  <a:pt x="217884" y="138261"/>
                </a:lnTo>
                <a:close/>
                <a:moveTo>
                  <a:pt x="43210" y="217587"/>
                </a:moveTo>
                <a:lnTo>
                  <a:pt x="122585" y="138212"/>
                </a:lnTo>
                <a:cubicBezTo>
                  <a:pt x="128786" y="132011"/>
                  <a:pt x="128786" y="121940"/>
                  <a:pt x="122585" y="115739"/>
                </a:cubicBezTo>
                <a:lnTo>
                  <a:pt x="43210" y="36364"/>
                </a:lnTo>
                <a:cubicBezTo>
                  <a:pt x="37009" y="30163"/>
                  <a:pt x="26938" y="30163"/>
                  <a:pt x="20737" y="36364"/>
                </a:cubicBezTo>
                <a:cubicBezTo>
                  <a:pt x="14536" y="42565"/>
                  <a:pt x="14536" y="52636"/>
                  <a:pt x="20737" y="58837"/>
                </a:cubicBezTo>
                <a:lnTo>
                  <a:pt x="88900" y="127000"/>
                </a:lnTo>
                <a:lnTo>
                  <a:pt x="20786" y="195163"/>
                </a:lnTo>
                <a:cubicBezTo>
                  <a:pt x="14585" y="201364"/>
                  <a:pt x="14585" y="211435"/>
                  <a:pt x="20786" y="217636"/>
                </a:cubicBezTo>
                <a:cubicBezTo>
                  <a:pt x="26988" y="223838"/>
                  <a:pt x="37058" y="223838"/>
                  <a:pt x="43259" y="217636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8" name="Text 5"/>
          <p:cNvSpPr/>
          <p:nvPr/>
        </p:nvSpPr>
        <p:spPr>
          <a:xfrm>
            <a:off x="6705600" y="3886200"/>
            <a:ext cx="311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Lagged returns &amp; Rolling volatility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91275" y="4368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7835" y="138212"/>
                </a:moveTo>
                <a:cubicBezTo>
                  <a:pt x="224036" y="132011"/>
                  <a:pt x="224036" y="121940"/>
                  <a:pt x="217835" y="115739"/>
                </a:cubicBezTo>
                <a:lnTo>
                  <a:pt x="138460" y="36364"/>
                </a:lnTo>
                <a:cubicBezTo>
                  <a:pt x="132259" y="30163"/>
                  <a:pt x="122188" y="30163"/>
                  <a:pt x="115987" y="36364"/>
                </a:cubicBezTo>
                <a:cubicBezTo>
                  <a:pt x="109786" y="42565"/>
                  <a:pt x="109786" y="52636"/>
                  <a:pt x="115987" y="58837"/>
                </a:cubicBezTo>
                <a:lnTo>
                  <a:pt x="184150" y="127000"/>
                </a:lnTo>
                <a:lnTo>
                  <a:pt x="116036" y="195163"/>
                </a:lnTo>
                <a:cubicBezTo>
                  <a:pt x="109835" y="201364"/>
                  <a:pt x="109835" y="211435"/>
                  <a:pt x="116036" y="217636"/>
                </a:cubicBezTo>
                <a:cubicBezTo>
                  <a:pt x="122238" y="223838"/>
                  <a:pt x="132308" y="223838"/>
                  <a:pt x="138509" y="217636"/>
                </a:cubicBezTo>
                <a:lnTo>
                  <a:pt x="217884" y="138261"/>
                </a:lnTo>
                <a:close/>
                <a:moveTo>
                  <a:pt x="43210" y="217587"/>
                </a:moveTo>
                <a:lnTo>
                  <a:pt x="122585" y="138212"/>
                </a:lnTo>
                <a:cubicBezTo>
                  <a:pt x="128786" y="132011"/>
                  <a:pt x="128786" y="121940"/>
                  <a:pt x="122585" y="115739"/>
                </a:cubicBezTo>
                <a:lnTo>
                  <a:pt x="43210" y="36364"/>
                </a:lnTo>
                <a:cubicBezTo>
                  <a:pt x="37009" y="30163"/>
                  <a:pt x="26938" y="30163"/>
                  <a:pt x="20737" y="36364"/>
                </a:cubicBezTo>
                <a:cubicBezTo>
                  <a:pt x="14536" y="42565"/>
                  <a:pt x="14536" y="52636"/>
                  <a:pt x="20737" y="58837"/>
                </a:cubicBezTo>
                <a:lnTo>
                  <a:pt x="88900" y="127000"/>
                </a:lnTo>
                <a:lnTo>
                  <a:pt x="20786" y="195163"/>
                </a:lnTo>
                <a:cubicBezTo>
                  <a:pt x="14585" y="201364"/>
                  <a:pt x="14585" y="211435"/>
                  <a:pt x="20786" y="217636"/>
                </a:cubicBezTo>
                <a:cubicBezTo>
                  <a:pt x="26988" y="223838"/>
                  <a:pt x="37058" y="223838"/>
                  <a:pt x="43259" y="217636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0" name="Text 7"/>
          <p:cNvSpPr/>
          <p:nvPr/>
        </p:nvSpPr>
        <p:spPr>
          <a:xfrm>
            <a:off x="6705600" y="43434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20-day &amp; 50-day moving averages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91275" y="4826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7835" y="138212"/>
                </a:moveTo>
                <a:cubicBezTo>
                  <a:pt x="224036" y="132011"/>
                  <a:pt x="224036" y="121940"/>
                  <a:pt x="217835" y="115739"/>
                </a:cubicBezTo>
                <a:lnTo>
                  <a:pt x="138460" y="36364"/>
                </a:lnTo>
                <a:cubicBezTo>
                  <a:pt x="132259" y="30163"/>
                  <a:pt x="122188" y="30163"/>
                  <a:pt x="115987" y="36364"/>
                </a:cubicBezTo>
                <a:cubicBezTo>
                  <a:pt x="109786" y="42565"/>
                  <a:pt x="109786" y="52636"/>
                  <a:pt x="115987" y="58837"/>
                </a:cubicBezTo>
                <a:lnTo>
                  <a:pt x="184150" y="127000"/>
                </a:lnTo>
                <a:lnTo>
                  <a:pt x="116036" y="195163"/>
                </a:lnTo>
                <a:cubicBezTo>
                  <a:pt x="109835" y="201364"/>
                  <a:pt x="109835" y="211435"/>
                  <a:pt x="116036" y="217636"/>
                </a:cubicBezTo>
                <a:cubicBezTo>
                  <a:pt x="122238" y="223838"/>
                  <a:pt x="132308" y="223838"/>
                  <a:pt x="138509" y="217636"/>
                </a:cubicBezTo>
                <a:lnTo>
                  <a:pt x="217884" y="138261"/>
                </a:lnTo>
                <a:close/>
                <a:moveTo>
                  <a:pt x="43210" y="217587"/>
                </a:moveTo>
                <a:lnTo>
                  <a:pt x="122585" y="138212"/>
                </a:lnTo>
                <a:cubicBezTo>
                  <a:pt x="128786" y="132011"/>
                  <a:pt x="128786" y="121940"/>
                  <a:pt x="122585" y="115739"/>
                </a:cubicBezTo>
                <a:lnTo>
                  <a:pt x="43210" y="36364"/>
                </a:lnTo>
                <a:cubicBezTo>
                  <a:pt x="37009" y="30163"/>
                  <a:pt x="26938" y="30163"/>
                  <a:pt x="20737" y="36364"/>
                </a:cubicBezTo>
                <a:cubicBezTo>
                  <a:pt x="14536" y="42565"/>
                  <a:pt x="14536" y="52636"/>
                  <a:pt x="20737" y="58837"/>
                </a:cubicBezTo>
                <a:lnTo>
                  <a:pt x="88900" y="127000"/>
                </a:lnTo>
                <a:lnTo>
                  <a:pt x="20786" y="195163"/>
                </a:lnTo>
                <a:cubicBezTo>
                  <a:pt x="14585" y="201364"/>
                  <a:pt x="14585" y="211435"/>
                  <a:pt x="20786" y="217636"/>
                </a:cubicBezTo>
                <a:cubicBezTo>
                  <a:pt x="26988" y="223838"/>
                  <a:pt x="37058" y="223838"/>
                  <a:pt x="43259" y="217636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2" name="Text 9"/>
          <p:cNvSpPr/>
          <p:nvPr/>
        </p:nvSpPr>
        <p:spPr>
          <a:xfrm>
            <a:off x="6705600" y="48006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Calendar dummies (Month/Quarter)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Mechanics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79959" y="1587977"/>
            <a:ext cx="546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Fitting The Best-Fit 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81919" y="2197577"/>
            <a:ext cx="953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Ordinary Least Squares (OLS) minimizes squared errors to yield a clear, actionable equation.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93700" y="3378042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6400" y="3835242"/>
            <a:ext cx="35941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Minimize the sum of the squares of the differences between observed and predicted values.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88314" y="3061177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6981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Result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256564" y="3797777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000" i="1" dirty="0">
                          <a:solidFill>
                            <a:srgbClr val="253159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3000" dirty="0">
                          <a:solidFill>
                            <a:srgbClr val="25315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 dirty="0">
                          <a:solidFill>
                            <a:srgbClr val="253159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sz="3000" dirty="0">
                          <a:solidFill>
                            <a:srgbClr val="25315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000" i="1" dirty="0">
                          <a:solidFill>
                            <a:srgbClr val="253159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4256564" y="3797777"/>
                <a:ext cx="3683000" cy="381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3000" dirty="0">
                    <a:solidFill>
                      <a:srgbClr val="253159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 y = mx + b  )</a:t>
                </a:r>
                <a:endParaRPr lang="en-US" sz="16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4307364" y="4558664"/>
            <a:ext cx="3581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formula mapping features (X) to the next-day price (y).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2928" y="3530442"/>
            <a:ext cx="361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CCA4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Benefit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5628" y="3987642"/>
            <a:ext cx="3594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 explicit formula for rapid deployment in Excel or Python.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1752600"/>
            <a:ext cx="5867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Validating Forecast Accuracy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29718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walk-forward validation to keep the model honest and quantify its performance with key metrics.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3886200"/>
            <a:ext cx="0" cy="1219200"/>
          </a:xfrm>
          <a:prstGeom prst="line">
            <a:avLst/>
          </a:prstGeom>
          <a:noFill/>
          <a:ln w="50800">
            <a:solidFill>
              <a:srgbClr val="FCCA45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54000" y="3886200"/>
            <a:ext cx="5588000" cy="1219200"/>
          </a:xfrm>
          <a:custGeom>
            <a:avLst/>
            <a:gdLst/>
            <a:ahLst/>
            <a:cxnLst/>
            <a:rect l="l" t="t" r="r" b="b"/>
            <a:pathLst>
              <a:path w="5588000" h="1219200">
                <a:moveTo>
                  <a:pt x="0" y="0"/>
                </a:moveTo>
                <a:lnTo>
                  <a:pt x="5486404" y="0"/>
                </a:lnTo>
                <a:cubicBezTo>
                  <a:pt x="5542514" y="0"/>
                  <a:pt x="5588000" y="45486"/>
                  <a:pt x="5588000" y="101596"/>
                </a:cubicBezTo>
                <a:lnTo>
                  <a:pt x="5588000" y="1117604"/>
                </a:lnTo>
                <a:cubicBezTo>
                  <a:pt x="5588000" y="1173714"/>
                  <a:pt x="5542514" y="1219200"/>
                  <a:pt x="5486404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2A3A6D">
              <a:alpha val="8627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4089400"/>
            <a:ext cx="528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A3A6D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Walk-Forward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4394200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Simulate real-world conditions by training on past data and testing on unseen future data (e.g., the last 20% of the dataset).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99200" y="2057400"/>
            <a:ext cx="5638800" cy="1270000"/>
          </a:xfrm>
          <a:custGeom>
            <a:avLst/>
            <a:gdLst/>
            <a:ahLst/>
            <a:cxnLst/>
            <a:rect l="l" t="t" r="r" b="b"/>
            <a:pathLst>
              <a:path w="5638800" h="1270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1168400"/>
                </a:lnTo>
                <a:cubicBezTo>
                  <a:pt x="5638800" y="1224475"/>
                  <a:pt x="5593275" y="1270000"/>
                  <a:pt x="553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6981A4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22606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981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MAE &amp; RMSE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2400" y="2616200"/>
            <a:ext cx="532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Quantify the average magnitude of errors in the predicted price levels.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99200" y="3530600"/>
            <a:ext cx="5638800" cy="1270000"/>
          </a:xfrm>
          <a:custGeom>
            <a:avLst/>
            <a:gdLst/>
            <a:ahLst/>
            <a:cxnLst/>
            <a:rect l="l" t="t" r="r" b="b"/>
            <a:pathLst>
              <a:path w="5638800" h="1270000">
                <a:moveTo>
                  <a:pt x="101600" y="0"/>
                </a:moveTo>
                <a:lnTo>
                  <a:pt x="5537200" y="0"/>
                </a:lnTo>
                <a:cubicBezTo>
                  <a:pt x="5593275" y="0"/>
                  <a:pt x="5638800" y="45525"/>
                  <a:pt x="5638800" y="101600"/>
                </a:cubicBezTo>
                <a:lnTo>
                  <a:pt x="5638800" y="1168400"/>
                </a:lnTo>
                <a:cubicBezTo>
                  <a:pt x="5638800" y="1224475"/>
                  <a:pt x="5593275" y="1270000"/>
                  <a:pt x="55372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E6172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02400" y="3733800"/>
            <a:ext cx="5346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E61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Directional Hit-Rate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2400" y="4089400"/>
            <a:ext cx="5321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Measure how often the model correctly predicts the up/down movement of the stock.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Signals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web-img.moonshot.cn/img/static.anychart.com/5747d31aced66e72d7d64ed45ac75415b0660806.png"/>
          <p:cNvPicPr>
            <a:picLocks noChangeAspect="1"/>
          </p:cNvPicPr>
          <p:nvPr/>
        </p:nvPicPr>
        <p:blipFill>
          <a:blip r:embed="rId3"/>
          <a:srcRect l="28516" r="28516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2703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99200" y="1828800"/>
            <a:ext cx="5867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Plotting Regression Channel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200" y="30480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Overlay </a:t>
            </a:r>
            <a:r>
              <a:rPr lang="en-US" sz="1600" b="1" dirty="0">
                <a:solidFill>
                  <a:srgbClr val="253159"/>
                </a:solidFill>
                <a:highlight>
                  <a:srgbClr val="FCCA45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±2-standard-error </a:t>
            </a: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bands around the fitted line to create a dynamic channel.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40475" y="4013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E6172"/>
          </a:solidFill>
          <a:ln/>
        </p:spPr>
      </p:sp>
      <p:sp>
        <p:nvSpPr>
          <p:cNvPr id="8" name="Text 5"/>
          <p:cNvSpPr/>
          <p:nvPr/>
        </p:nvSpPr>
        <p:spPr>
          <a:xfrm>
            <a:off x="6705600" y="3962400"/>
            <a:ext cx="533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Prices outside the band flag potential </a:t>
            </a: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reversal points</a:t>
            </a: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40475" y="447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114300"/>
                </a:moveTo>
                <a:cubicBezTo>
                  <a:pt x="228600" y="114702"/>
                  <a:pt x="228600" y="115104"/>
                  <a:pt x="228600" y="115506"/>
                </a:cubicBezTo>
                <a:cubicBezTo>
                  <a:pt x="228421" y="131802"/>
                  <a:pt x="213598" y="142875"/>
                  <a:pt x="197301" y="142875"/>
                </a:cubicBezTo>
                <a:lnTo>
                  <a:pt x="153591" y="142875"/>
                </a:lnTo>
                <a:cubicBezTo>
                  <a:pt x="141759" y="142875"/>
                  <a:pt x="132159" y="152474"/>
                  <a:pt x="132159" y="164306"/>
                </a:cubicBezTo>
                <a:cubicBezTo>
                  <a:pt x="132159" y="165824"/>
                  <a:pt x="132338" y="167298"/>
                  <a:pt x="132606" y="168726"/>
                </a:cubicBezTo>
                <a:cubicBezTo>
                  <a:pt x="133543" y="173281"/>
                  <a:pt x="135508" y="177656"/>
                  <a:pt x="137428" y="182076"/>
                </a:cubicBezTo>
                <a:cubicBezTo>
                  <a:pt x="140151" y="188238"/>
                  <a:pt x="142830" y="194355"/>
                  <a:pt x="142830" y="200829"/>
                </a:cubicBezTo>
                <a:cubicBezTo>
                  <a:pt x="142830" y="215027"/>
                  <a:pt x="133186" y="227930"/>
                  <a:pt x="118988" y="228511"/>
                </a:cubicBezTo>
                <a:cubicBezTo>
                  <a:pt x="117425" y="228555"/>
                  <a:pt x="115863" y="228600"/>
                  <a:pt x="114255" y="228600"/>
                </a:cubicBezTo>
                <a:cubicBezTo>
                  <a:pt x="51122" y="228600"/>
                  <a:pt x="-45" y="177433"/>
                  <a:pt x="-45" y="114300"/>
                </a:cubicBezTo>
                <a:cubicBezTo>
                  <a:pt x="-45" y="51167"/>
                  <a:pt x="51167" y="0"/>
                  <a:pt x="114300" y="0"/>
                </a:cubicBezTo>
                <a:cubicBezTo>
                  <a:pt x="177433" y="0"/>
                  <a:pt x="228600" y="51167"/>
                  <a:pt x="228600" y="114300"/>
                </a:cubicBezTo>
                <a:close/>
                <a:moveTo>
                  <a:pt x="57150" y="128588"/>
                </a:moveTo>
                <a:cubicBezTo>
                  <a:pt x="57150" y="120702"/>
                  <a:pt x="50748" y="114300"/>
                  <a:pt x="42863" y="114300"/>
                </a:cubicBezTo>
                <a:cubicBezTo>
                  <a:pt x="34977" y="114300"/>
                  <a:pt x="28575" y="120702"/>
                  <a:pt x="28575" y="128588"/>
                </a:cubicBezTo>
                <a:cubicBezTo>
                  <a:pt x="28575" y="136473"/>
                  <a:pt x="34977" y="142875"/>
                  <a:pt x="42863" y="142875"/>
                </a:cubicBezTo>
                <a:cubicBezTo>
                  <a:pt x="50748" y="142875"/>
                  <a:pt x="57150" y="136473"/>
                  <a:pt x="57150" y="128588"/>
                </a:cubicBezTo>
                <a:close/>
                <a:moveTo>
                  <a:pt x="57150" y="85725"/>
                </a:moveTo>
                <a:cubicBezTo>
                  <a:pt x="65035" y="85725"/>
                  <a:pt x="71438" y="79323"/>
                  <a:pt x="71438" y="71438"/>
                </a:cubicBezTo>
                <a:cubicBezTo>
                  <a:pt x="71438" y="63552"/>
                  <a:pt x="65035" y="57150"/>
                  <a:pt x="57150" y="57150"/>
                </a:cubicBezTo>
                <a:cubicBezTo>
                  <a:pt x="49265" y="57150"/>
                  <a:pt x="42863" y="63552"/>
                  <a:pt x="42863" y="71438"/>
                </a:cubicBezTo>
                <a:cubicBezTo>
                  <a:pt x="42863" y="79323"/>
                  <a:pt x="49265" y="85725"/>
                  <a:pt x="57150" y="85725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71450" y="85725"/>
                </a:moveTo>
                <a:cubicBezTo>
                  <a:pt x="179335" y="85725"/>
                  <a:pt x="185738" y="79323"/>
                  <a:pt x="185738" y="71438"/>
                </a:cubicBezTo>
                <a:cubicBezTo>
                  <a:pt x="185738" y="63552"/>
                  <a:pt x="179335" y="57150"/>
                  <a:pt x="171450" y="57150"/>
                </a:cubicBezTo>
                <a:cubicBezTo>
                  <a:pt x="163565" y="57150"/>
                  <a:pt x="157163" y="63552"/>
                  <a:pt x="157163" y="71438"/>
                </a:cubicBezTo>
                <a:cubicBezTo>
                  <a:pt x="157163" y="79323"/>
                  <a:pt x="163565" y="85725"/>
                  <a:pt x="171450" y="85725"/>
                </a:cubicBezTo>
                <a:close/>
              </a:path>
            </a:pathLst>
          </a:custGeom>
          <a:solidFill>
            <a:srgbClr val="2A3A6D">
              <a:alpha val="85098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705600" y="441960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Slope color instantly communicates </a:t>
            </a: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trend strength</a:t>
            </a: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on any chart.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9700" y="14986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Reading Slope Shifts Early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850" y="21082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the regression slope for early warnings before classic indicators trigger.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19200" y="2870200"/>
            <a:ext cx="4673600" cy="2489200"/>
          </a:xfrm>
          <a:custGeom>
            <a:avLst/>
            <a:gdLst/>
            <a:ahLst/>
            <a:cxnLst/>
            <a:rect l="l" t="t" r="r" b="b"/>
            <a:pathLst>
              <a:path w="4673600" h="2489200">
                <a:moveTo>
                  <a:pt x="152389" y="0"/>
                </a:moveTo>
                <a:lnTo>
                  <a:pt x="4521211" y="0"/>
                </a:lnTo>
                <a:cubicBezTo>
                  <a:pt x="4605373" y="0"/>
                  <a:pt x="4673600" y="68227"/>
                  <a:pt x="4673600" y="152389"/>
                </a:cubicBezTo>
                <a:lnTo>
                  <a:pt x="4673600" y="2336811"/>
                </a:lnTo>
                <a:cubicBezTo>
                  <a:pt x="4673600" y="2420973"/>
                  <a:pt x="4605373" y="2489200"/>
                  <a:pt x="4521211" y="2489200"/>
                </a:cubicBezTo>
                <a:lnTo>
                  <a:pt x="152389" y="2489200"/>
                </a:lnTo>
                <a:cubicBezTo>
                  <a:pt x="68227" y="2489200"/>
                  <a:pt x="0" y="2420973"/>
                  <a:pt x="0" y="2336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EE6172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13100" y="3175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57200" y="419100"/>
                </a:moveTo>
                <a:cubicBezTo>
                  <a:pt x="436126" y="419100"/>
                  <a:pt x="419100" y="436126"/>
                  <a:pt x="419100" y="457200"/>
                </a:cubicBezTo>
                <a:cubicBezTo>
                  <a:pt x="419100" y="478274"/>
                  <a:pt x="436126" y="495300"/>
                  <a:pt x="457200" y="495300"/>
                </a:cubicBezTo>
                <a:lnTo>
                  <a:pt x="647700" y="495300"/>
                </a:lnTo>
                <a:cubicBezTo>
                  <a:pt x="668774" y="495300"/>
                  <a:pt x="685800" y="478274"/>
                  <a:pt x="685800" y="457200"/>
                </a:cubicBezTo>
                <a:lnTo>
                  <a:pt x="685800" y="266700"/>
                </a:lnTo>
                <a:cubicBezTo>
                  <a:pt x="685800" y="245626"/>
                  <a:pt x="668774" y="228600"/>
                  <a:pt x="647700" y="228600"/>
                </a:cubicBezTo>
                <a:cubicBezTo>
                  <a:pt x="626626" y="228600"/>
                  <a:pt x="609600" y="245626"/>
                  <a:pt x="609600" y="266700"/>
                </a:cubicBezTo>
                <a:lnTo>
                  <a:pt x="609600" y="365165"/>
                </a:lnTo>
                <a:lnTo>
                  <a:pt x="407908" y="163473"/>
                </a:lnTo>
                <a:cubicBezTo>
                  <a:pt x="393025" y="148590"/>
                  <a:pt x="368856" y="148590"/>
                  <a:pt x="353973" y="163473"/>
                </a:cubicBezTo>
                <a:lnTo>
                  <a:pt x="228600" y="288965"/>
                </a:lnTo>
                <a:lnTo>
                  <a:pt x="65008" y="125492"/>
                </a:lnTo>
                <a:cubicBezTo>
                  <a:pt x="50125" y="110609"/>
                  <a:pt x="25956" y="110609"/>
                  <a:pt x="11073" y="125492"/>
                </a:cubicBezTo>
                <a:cubicBezTo>
                  <a:pt x="-3810" y="140375"/>
                  <a:pt x="-3810" y="164544"/>
                  <a:pt x="11073" y="179427"/>
                </a:cubicBezTo>
                <a:lnTo>
                  <a:pt x="201573" y="369927"/>
                </a:lnTo>
                <a:cubicBezTo>
                  <a:pt x="216456" y="384810"/>
                  <a:pt x="240625" y="384810"/>
                  <a:pt x="255508" y="369927"/>
                </a:cubicBezTo>
                <a:lnTo>
                  <a:pt x="381000" y="244435"/>
                </a:lnTo>
                <a:lnTo>
                  <a:pt x="555665" y="419100"/>
                </a:lnTo>
                <a:lnTo>
                  <a:pt x="457200" y="419100"/>
                </a:lnTo>
                <a:close/>
              </a:path>
            </a:pathLst>
          </a:custGeom>
          <a:solidFill>
            <a:srgbClr val="EE6172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3937000"/>
            <a:ext cx="421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EE61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Flattening Slope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73200" y="4444845"/>
            <a:ext cx="416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Warns of </a:t>
            </a: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momentum loss</a:t>
            </a: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signaling a potential trend exhaustion.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99200" y="2870200"/>
            <a:ext cx="4673600" cy="2489200"/>
          </a:xfrm>
          <a:custGeom>
            <a:avLst/>
            <a:gdLst/>
            <a:ahLst/>
            <a:cxnLst/>
            <a:rect l="l" t="t" r="r" b="b"/>
            <a:pathLst>
              <a:path w="4673600" h="2489200">
                <a:moveTo>
                  <a:pt x="152389" y="0"/>
                </a:moveTo>
                <a:lnTo>
                  <a:pt x="4521211" y="0"/>
                </a:lnTo>
                <a:cubicBezTo>
                  <a:pt x="4605373" y="0"/>
                  <a:pt x="4673600" y="68227"/>
                  <a:pt x="4673600" y="152389"/>
                </a:cubicBezTo>
                <a:lnTo>
                  <a:pt x="4673600" y="2336811"/>
                </a:lnTo>
                <a:cubicBezTo>
                  <a:pt x="4673600" y="2420973"/>
                  <a:pt x="4605373" y="2489200"/>
                  <a:pt x="4521211" y="2489200"/>
                </a:cubicBezTo>
                <a:lnTo>
                  <a:pt x="152389" y="2489200"/>
                </a:lnTo>
                <a:cubicBezTo>
                  <a:pt x="68227" y="2489200"/>
                  <a:pt x="0" y="2420973"/>
                  <a:pt x="0" y="2336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3100" y="3175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57200" y="190500"/>
                </a:moveTo>
                <a:cubicBezTo>
                  <a:pt x="436126" y="190500"/>
                  <a:pt x="419100" y="173474"/>
                  <a:pt x="419100" y="152400"/>
                </a:cubicBezTo>
                <a:cubicBezTo>
                  <a:pt x="419100" y="131326"/>
                  <a:pt x="436126" y="114300"/>
                  <a:pt x="457200" y="114300"/>
                </a:cubicBezTo>
                <a:lnTo>
                  <a:pt x="647700" y="114300"/>
                </a:lnTo>
                <a:cubicBezTo>
                  <a:pt x="668774" y="114300"/>
                  <a:pt x="685800" y="131326"/>
                  <a:pt x="685800" y="152400"/>
                </a:cubicBezTo>
                <a:lnTo>
                  <a:pt x="685800" y="342900"/>
                </a:lnTo>
                <a:cubicBezTo>
                  <a:pt x="685800" y="363974"/>
                  <a:pt x="668774" y="381000"/>
                  <a:pt x="647700" y="381000"/>
                </a:cubicBezTo>
                <a:cubicBezTo>
                  <a:pt x="626626" y="381000"/>
                  <a:pt x="609600" y="363974"/>
                  <a:pt x="609600" y="342900"/>
                </a:cubicBezTo>
                <a:lnTo>
                  <a:pt x="609600" y="244435"/>
                </a:lnTo>
                <a:lnTo>
                  <a:pt x="407908" y="446127"/>
                </a:lnTo>
                <a:cubicBezTo>
                  <a:pt x="393025" y="461010"/>
                  <a:pt x="368856" y="461010"/>
                  <a:pt x="353973" y="446127"/>
                </a:cubicBezTo>
                <a:lnTo>
                  <a:pt x="228600" y="320635"/>
                </a:lnTo>
                <a:lnTo>
                  <a:pt x="65008" y="484108"/>
                </a:lnTo>
                <a:cubicBezTo>
                  <a:pt x="50125" y="498991"/>
                  <a:pt x="25956" y="498991"/>
                  <a:pt x="11073" y="484108"/>
                </a:cubicBezTo>
                <a:cubicBezTo>
                  <a:pt x="-3810" y="469225"/>
                  <a:pt x="-3810" y="445056"/>
                  <a:pt x="11073" y="430173"/>
                </a:cubicBezTo>
                <a:lnTo>
                  <a:pt x="201573" y="239673"/>
                </a:lnTo>
                <a:cubicBezTo>
                  <a:pt x="216456" y="224790"/>
                  <a:pt x="240625" y="224790"/>
                  <a:pt x="255508" y="239673"/>
                </a:cubicBezTo>
                <a:lnTo>
                  <a:pt x="381000" y="365165"/>
                </a:lnTo>
                <a:lnTo>
                  <a:pt x="555665" y="190500"/>
                </a:lnTo>
                <a:lnTo>
                  <a:pt x="457200" y="190500"/>
                </a:lnTo>
                <a:close/>
              </a:path>
            </a:pathLst>
          </a:custGeom>
          <a:solidFill>
            <a:srgbClr val="2A3A6D">
              <a:alpha val="8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527800" y="3937000"/>
            <a:ext cx="421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Steepening Slope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200" y="4444845"/>
            <a:ext cx="416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Confirms </a:t>
            </a: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acceleration</a:t>
            </a: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indicating a strengthening trend.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 Deployment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9700" y="2159000"/>
            <a:ext cx="1191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Jupyter To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850" y="2768600"/>
            <a:ext cx="1179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 the entire pipeline for a hands-off, daily forecast.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438275" y="36322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28575"/>
                </a:moveTo>
                <a:cubicBezTo>
                  <a:pt x="228600" y="12769"/>
                  <a:pt x="215831" y="0"/>
                  <a:pt x="200025" y="0"/>
                </a:cubicBezTo>
                <a:cubicBezTo>
                  <a:pt x="184219" y="0"/>
                  <a:pt x="171450" y="12769"/>
                  <a:pt x="171450" y="28575"/>
                </a:cubicBezTo>
                <a:lnTo>
                  <a:pt x="171450" y="216724"/>
                </a:lnTo>
                <a:lnTo>
                  <a:pt x="134481" y="179755"/>
                </a:lnTo>
                <a:cubicBezTo>
                  <a:pt x="123319" y="168592"/>
                  <a:pt x="105192" y="168592"/>
                  <a:pt x="94030" y="179755"/>
                </a:cubicBezTo>
                <a:cubicBezTo>
                  <a:pt x="82867" y="190917"/>
                  <a:pt x="82867" y="209044"/>
                  <a:pt x="94030" y="220206"/>
                </a:cubicBezTo>
                <a:lnTo>
                  <a:pt x="179755" y="305931"/>
                </a:lnTo>
                <a:cubicBezTo>
                  <a:pt x="190917" y="317093"/>
                  <a:pt x="209044" y="317093"/>
                  <a:pt x="220206" y="305931"/>
                </a:cubicBezTo>
                <a:lnTo>
                  <a:pt x="305931" y="220206"/>
                </a:lnTo>
                <a:cubicBezTo>
                  <a:pt x="317093" y="209044"/>
                  <a:pt x="317093" y="190917"/>
                  <a:pt x="305931" y="179755"/>
                </a:cubicBezTo>
                <a:cubicBezTo>
                  <a:pt x="294769" y="168592"/>
                  <a:pt x="276642" y="168592"/>
                  <a:pt x="265480" y="179755"/>
                </a:cubicBezTo>
                <a:lnTo>
                  <a:pt x="228600" y="216724"/>
                </a:lnTo>
                <a:lnTo>
                  <a:pt x="228600" y="28575"/>
                </a:lnTo>
                <a:close/>
                <a:moveTo>
                  <a:pt x="57150" y="285750"/>
                </a:moveTo>
                <a:cubicBezTo>
                  <a:pt x="25628" y="285750"/>
                  <a:pt x="0" y="311378"/>
                  <a:pt x="0" y="342900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42900"/>
                </a:lnTo>
                <a:cubicBezTo>
                  <a:pt x="400050" y="311378"/>
                  <a:pt x="374422" y="285750"/>
                  <a:pt x="342900" y="285750"/>
                </a:cubicBezTo>
                <a:lnTo>
                  <a:pt x="301020" y="285750"/>
                </a:lnTo>
                <a:lnTo>
                  <a:pt x="250478" y="336292"/>
                </a:lnTo>
                <a:cubicBezTo>
                  <a:pt x="222617" y="364153"/>
                  <a:pt x="177344" y="364153"/>
                  <a:pt x="149483" y="336292"/>
                </a:cubicBezTo>
                <a:lnTo>
                  <a:pt x="99030" y="285750"/>
                </a:lnTo>
                <a:lnTo>
                  <a:pt x="57150" y="285750"/>
                </a:lnTo>
                <a:close/>
                <a:moveTo>
                  <a:pt x="328613" y="335756"/>
                </a:moveTo>
                <a:cubicBezTo>
                  <a:pt x="340441" y="335756"/>
                  <a:pt x="350044" y="345359"/>
                  <a:pt x="350044" y="357188"/>
                </a:cubicBezTo>
                <a:cubicBezTo>
                  <a:pt x="350044" y="369016"/>
                  <a:pt x="340441" y="378619"/>
                  <a:pt x="328613" y="378619"/>
                </a:cubicBezTo>
                <a:cubicBezTo>
                  <a:pt x="316784" y="378619"/>
                  <a:pt x="307181" y="369016"/>
                  <a:pt x="307181" y="357188"/>
                </a:cubicBezTo>
                <a:cubicBezTo>
                  <a:pt x="307181" y="345359"/>
                  <a:pt x="316784" y="335756"/>
                  <a:pt x="328613" y="335756"/>
                </a:cubicBezTo>
                <a:close/>
              </a:path>
            </a:pathLst>
          </a:custGeom>
          <a:solidFill>
            <a:srgbClr val="2A3A6D">
              <a:alpha val="85098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79341" y="41910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ETL Script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2651" y="4495800"/>
            <a:ext cx="1485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Downloads new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24200" y="4140045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0" name="Shape 8"/>
          <p:cNvSpPr/>
          <p:nvPr/>
        </p:nvSpPr>
        <p:spPr>
          <a:xfrm>
            <a:off x="4381500" y="363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7169" y="307181"/>
                </a:moveTo>
                <a:lnTo>
                  <a:pt x="207169" y="250031"/>
                </a:lnTo>
                <a:lnTo>
                  <a:pt x="150019" y="250031"/>
                </a:lnTo>
                <a:cubicBezTo>
                  <a:pt x="138142" y="250031"/>
                  <a:pt x="128588" y="240476"/>
                  <a:pt x="128588" y="228600"/>
                </a:cubicBezTo>
                <a:cubicBezTo>
                  <a:pt x="128588" y="216724"/>
                  <a:pt x="138142" y="207169"/>
                  <a:pt x="150019" y="207169"/>
                </a:cubicBezTo>
                <a:lnTo>
                  <a:pt x="207169" y="207169"/>
                </a:lnTo>
                <a:lnTo>
                  <a:pt x="207169" y="150019"/>
                </a:lnTo>
                <a:cubicBezTo>
                  <a:pt x="207169" y="138142"/>
                  <a:pt x="216724" y="128588"/>
                  <a:pt x="228600" y="128588"/>
                </a:cubicBezTo>
                <a:cubicBezTo>
                  <a:pt x="240476" y="128588"/>
                  <a:pt x="250031" y="138142"/>
                  <a:pt x="250031" y="150019"/>
                </a:cubicBezTo>
                <a:lnTo>
                  <a:pt x="250031" y="207169"/>
                </a:lnTo>
                <a:lnTo>
                  <a:pt x="307181" y="207169"/>
                </a:lnTo>
                <a:cubicBezTo>
                  <a:pt x="319058" y="207169"/>
                  <a:pt x="328613" y="216724"/>
                  <a:pt x="328613" y="228600"/>
                </a:cubicBezTo>
                <a:cubicBezTo>
                  <a:pt x="328613" y="240476"/>
                  <a:pt x="319058" y="250031"/>
                  <a:pt x="307181" y="250031"/>
                </a:cubicBezTo>
                <a:lnTo>
                  <a:pt x="250031" y="250031"/>
                </a:lnTo>
                <a:lnTo>
                  <a:pt x="250031" y="307181"/>
                </a:lnTo>
                <a:cubicBezTo>
                  <a:pt x="250031" y="319058"/>
                  <a:pt x="240476" y="328613"/>
                  <a:pt x="228600" y="328613"/>
                </a:cubicBezTo>
                <a:cubicBezTo>
                  <a:pt x="216724" y="328613"/>
                  <a:pt x="207169" y="319058"/>
                  <a:pt x="207169" y="307181"/>
                </a:cubicBezTo>
                <a:close/>
              </a:path>
            </a:pathLst>
          </a:custGeom>
          <a:solidFill>
            <a:srgbClr val="6981A4"/>
          </a:solidFill>
          <a:ln/>
        </p:spPr>
      </p:sp>
      <p:sp>
        <p:nvSpPr>
          <p:cNvPr id="11" name="Text 9"/>
          <p:cNvSpPr/>
          <p:nvPr/>
        </p:nvSpPr>
        <p:spPr>
          <a:xfrm>
            <a:off x="3701256" y="4191000"/>
            <a:ext cx="181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Append &amp; Retrain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2238" y="4495800"/>
            <a:ext cx="1358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Updates the model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6000" y="4140045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7324725" y="36322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85725" y="0"/>
                </a:moveTo>
                <a:cubicBezTo>
                  <a:pt x="54203" y="0"/>
                  <a:pt x="28575" y="25628"/>
                  <a:pt x="28575" y="57150"/>
                </a:cubicBezTo>
                <a:lnTo>
                  <a:pt x="28575" y="400050"/>
                </a:lnTo>
                <a:cubicBezTo>
                  <a:pt x="28575" y="431572"/>
                  <a:pt x="54203" y="457200"/>
                  <a:pt x="85725" y="457200"/>
                </a:cubicBezTo>
                <a:lnTo>
                  <a:pt x="157163" y="457200"/>
                </a:lnTo>
                <a:lnTo>
                  <a:pt x="157163" y="357188"/>
                </a:lnTo>
                <a:cubicBezTo>
                  <a:pt x="157163" y="325666"/>
                  <a:pt x="182791" y="300038"/>
                  <a:pt x="214313" y="300038"/>
                </a:cubicBezTo>
                <a:lnTo>
                  <a:pt x="371475" y="300038"/>
                </a:lnTo>
                <a:lnTo>
                  <a:pt x="371475" y="152251"/>
                </a:lnTo>
                <a:cubicBezTo>
                  <a:pt x="371475" y="137071"/>
                  <a:pt x="365492" y="122515"/>
                  <a:pt x="354776" y="111800"/>
                </a:cubicBezTo>
                <a:lnTo>
                  <a:pt x="259586" y="16699"/>
                </a:lnTo>
                <a:cubicBezTo>
                  <a:pt x="248870" y="5983"/>
                  <a:pt x="234404" y="0"/>
                  <a:pt x="219224" y="0"/>
                </a:cubicBezTo>
                <a:lnTo>
                  <a:pt x="85725" y="0"/>
                </a:lnTo>
                <a:close/>
                <a:moveTo>
                  <a:pt x="319236" y="157163"/>
                </a:moveTo>
                <a:lnTo>
                  <a:pt x="235744" y="157163"/>
                </a:lnTo>
                <a:cubicBezTo>
                  <a:pt x="223867" y="157163"/>
                  <a:pt x="214313" y="147608"/>
                  <a:pt x="214313" y="135731"/>
                </a:cubicBezTo>
                <a:lnTo>
                  <a:pt x="214313" y="52239"/>
                </a:lnTo>
                <a:lnTo>
                  <a:pt x="319236" y="157163"/>
                </a:lnTo>
                <a:close/>
                <a:moveTo>
                  <a:pt x="235744" y="339328"/>
                </a:moveTo>
                <a:cubicBezTo>
                  <a:pt x="214045" y="339328"/>
                  <a:pt x="196453" y="356920"/>
                  <a:pt x="196453" y="378619"/>
                </a:cubicBezTo>
                <a:lnTo>
                  <a:pt x="196453" y="450056"/>
                </a:lnTo>
                <a:cubicBezTo>
                  <a:pt x="196453" y="471755"/>
                  <a:pt x="214045" y="489347"/>
                  <a:pt x="235744" y="489347"/>
                </a:cubicBezTo>
                <a:lnTo>
                  <a:pt x="250031" y="489347"/>
                </a:lnTo>
                <a:cubicBezTo>
                  <a:pt x="271730" y="489347"/>
                  <a:pt x="289322" y="471755"/>
                  <a:pt x="289322" y="450056"/>
                </a:cubicBezTo>
                <a:lnTo>
                  <a:pt x="289322" y="442913"/>
                </a:lnTo>
                <a:cubicBezTo>
                  <a:pt x="289322" y="433090"/>
                  <a:pt x="281285" y="425053"/>
                  <a:pt x="271463" y="425053"/>
                </a:cubicBezTo>
                <a:cubicBezTo>
                  <a:pt x="261640" y="425053"/>
                  <a:pt x="253603" y="433090"/>
                  <a:pt x="253603" y="442913"/>
                </a:cubicBezTo>
                <a:lnTo>
                  <a:pt x="253603" y="450056"/>
                </a:lnTo>
                <a:cubicBezTo>
                  <a:pt x="253603" y="452021"/>
                  <a:pt x="251996" y="453628"/>
                  <a:pt x="250031" y="453628"/>
                </a:cubicBezTo>
                <a:lnTo>
                  <a:pt x="235744" y="453628"/>
                </a:lnTo>
                <a:cubicBezTo>
                  <a:pt x="233779" y="453628"/>
                  <a:pt x="232172" y="452021"/>
                  <a:pt x="232172" y="450056"/>
                </a:cubicBezTo>
                <a:lnTo>
                  <a:pt x="232172" y="378619"/>
                </a:lnTo>
                <a:cubicBezTo>
                  <a:pt x="232172" y="376654"/>
                  <a:pt x="233779" y="375047"/>
                  <a:pt x="235744" y="375047"/>
                </a:cubicBezTo>
                <a:lnTo>
                  <a:pt x="250031" y="375047"/>
                </a:lnTo>
                <a:cubicBezTo>
                  <a:pt x="251996" y="375047"/>
                  <a:pt x="253603" y="376654"/>
                  <a:pt x="253603" y="378619"/>
                </a:cubicBezTo>
                <a:lnTo>
                  <a:pt x="253603" y="385763"/>
                </a:lnTo>
                <a:cubicBezTo>
                  <a:pt x="253603" y="395585"/>
                  <a:pt x="261640" y="403622"/>
                  <a:pt x="271463" y="403622"/>
                </a:cubicBezTo>
                <a:cubicBezTo>
                  <a:pt x="281285" y="403622"/>
                  <a:pt x="289322" y="395585"/>
                  <a:pt x="289322" y="385763"/>
                </a:cubicBezTo>
                <a:lnTo>
                  <a:pt x="289322" y="378619"/>
                </a:lnTo>
                <a:cubicBezTo>
                  <a:pt x="289322" y="356920"/>
                  <a:pt x="271730" y="339328"/>
                  <a:pt x="250031" y="339328"/>
                </a:cubicBezTo>
                <a:lnTo>
                  <a:pt x="235744" y="339328"/>
                </a:lnTo>
                <a:close/>
                <a:moveTo>
                  <a:pt x="357188" y="339328"/>
                </a:moveTo>
                <a:cubicBezTo>
                  <a:pt x="331559" y="339328"/>
                  <a:pt x="310753" y="360134"/>
                  <a:pt x="310753" y="385763"/>
                </a:cubicBezTo>
                <a:cubicBezTo>
                  <a:pt x="310753" y="411391"/>
                  <a:pt x="331559" y="432197"/>
                  <a:pt x="357188" y="432197"/>
                </a:cubicBezTo>
                <a:cubicBezTo>
                  <a:pt x="363081" y="432197"/>
                  <a:pt x="367903" y="437019"/>
                  <a:pt x="367903" y="442913"/>
                </a:cubicBezTo>
                <a:cubicBezTo>
                  <a:pt x="367903" y="448806"/>
                  <a:pt x="363081" y="453628"/>
                  <a:pt x="357188" y="453628"/>
                </a:cubicBezTo>
                <a:lnTo>
                  <a:pt x="328613" y="453628"/>
                </a:lnTo>
                <a:cubicBezTo>
                  <a:pt x="318790" y="453628"/>
                  <a:pt x="310753" y="461665"/>
                  <a:pt x="310753" y="471488"/>
                </a:cubicBezTo>
                <a:cubicBezTo>
                  <a:pt x="310753" y="481310"/>
                  <a:pt x="318790" y="489347"/>
                  <a:pt x="328613" y="489347"/>
                </a:cubicBezTo>
                <a:lnTo>
                  <a:pt x="357188" y="489347"/>
                </a:lnTo>
                <a:cubicBezTo>
                  <a:pt x="382816" y="489347"/>
                  <a:pt x="403622" y="468541"/>
                  <a:pt x="403622" y="442913"/>
                </a:cubicBezTo>
                <a:cubicBezTo>
                  <a:pt x="403622" y="417284"/>
                  <a:pt x="382816" y="396478"/>
                  <a:pt x="357188" y="396478"/>
                </a:cubicBezTo>
                <a:cubicBezTo>
                  <a:pt x="351294" y="396478"/>
                  <a:pt x="346472" y="391656"/>
                  <a:pt x="346472" y="385763"/>
                </a:cubicBezTo>
                <a:cubicBezTo>
                  <a:pt x="346472" y="379869"/>
                  <a:pt x="351294" y="375047"/>
                  <a:pt x="357188" y="375047"/>
                </a:cubicBezTo>
                <a:lnTo>
                  <a:pt x="378619" y="375047"/>
                </a:lnTo>
                <a:cubicBezTo>
                  <a:pt x="388441" y="375047"/>
                  <a:pt x="396478" y="367010"/>
                  <a:pt x="396478" y="357188"/>
                </a:cubicBezTo>
                <a:cubicBezTo>
                  <a:pt x="396478" y="347365"/>
                  <a:pt x="388441" y="339328"/>
                  <a:pt x="378619" y="339328"/>
                </a:cubicBezTo>
                <a:lnTo>
                  <a:pt x="357188" y="339328"/>
                </a:lnTo>
                <a:close/>
                <a:moveTo>
                  <a:pt x="442913" y="339328"/>
                </a:moveTo>
                <a:cubicBezTo>
                  <a:pt x="433090" y="339328"/>
                  <a:pt x="425053" y="347365"/>
                  <a:pt x="425053" y="357188"/>
                </a:cubicBezTo>
                <a:lnTo>
                  <a:pt x="425053" y="385405"/>
                </a:lnTo>
                <a:cubicBezTo>
                  <a:pt x="425053" y="417106"/>
                  <a:pt x="434429" y="448181"/>
                  <a:pt x="452021" y="474524"/>
                </a:cubicBezTo>
                <a:lnTo>
                  <a:pt x="456575" y="481399"/>
                </a:lnTo>
                <a:cubicBezTo>
                  <a:pt x="459879" y="486400"/>
                  <a:pt x="465505" y="489347"/>
                  <a:pt x="471398" y="489347"/>
                </a:cubicBezTo>
                <a:cubicBezTo>
                  <a:pt x="477292" y="489347"/>
                  <a:pt x="482917" y="486400"/>
                  <a:pt x="486221" y="481399"/>
                </a:cubicBezTo>
                <a:lnTo>
                  <a:pt x="490776" y="474524"/>
                </a:lnTo>
                <a:cubicBezTo>
                  <a:pt x="508367" y="448092"/>
                  <a:pt x="517743" y="417106"/>
                  <a:pt x="517743" y="385405"/>
                </a:cubicBezTo>
                <a:lnTo>
                  <a:pt x="517743" y="357187"/>
                </a:lnTo>
                <a:cubicBezTo>
                  <a:pt x="517743" y="347365"/>
                  <a:pt x="509707" y="339328"/>
                  <a:pt x="499884" y="339328"/>
                </a:cubicBezTo>
                <a:cubicBezTo>
                  <a:pt x="490061" y="339328"/>
                  <a:pt x="482025" y="347365"/>
                  <a:pt x="482025" y="357187"/>
                </a:cubicBezTo>
                <a:lnTo>
                  <a:pt x="482025" y="385405"/>
                </a:lnTo>
                <a:cubicBezTo>
                  <a:pt x="482025" y="402908"/>
                  <a:pt x="478363" y="420142"/>
                  <a:pt x="471309" y="436037"/>
                </a:cubicBezTo>
                <a:cubicBezTo>
                  <a:pt x="464254" y="420142"/>
                  <a:pt x="460593" y="402907"/>
                  <a:pt x="460593" y="385405"/>
                </a:cubicBezTo>
                <a:lnTo>
                  <a:pt x="460593" y="357187"/>
                </a:lnTo>
                <a:cubicBezTo>
                  <a:pt x="460593" y="347365"/>
                  <a:pt x="452557" y="339328"/>
                  <a:pt x="442734" y="339328"/>
                </a:cubicBezTo>
                <a:close/>
              </a:path>
            </a:pathLst>
          </a:custGeom>
          <a:solidFill>
            <a:srgbClr val="EE6172"/>
          </a:solidFill>
          <a:ln/>
        </p:spPr>
      </p:sp>
      <p:sp>
        <p:nvSpPr>
          <p:cNvPr id="15" name="Text 13"/>
          <p:cNvSpPr/>
          <p:nvPr/>
        </p:nvSpPr>
        <p:spPr>
          <a:xfrm>
            <a:off x="6638766" y="4191000"/>
            <a:ext cx="189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Forecast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83083" y="4495800"/>
            <a:ext cx="1397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Writes to a CSV file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67800" y="4140045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0"/>
                </a:lnTo>
                <a:lnTo>
                  <a:pt x="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67950" y="36322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2A3A6D">
              <a:alpha val="85098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718199" y="41910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OMS 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90552" y="4495800"/>
            <a:ext cx="212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Consumed by trading systems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4000" y="990600"/>
            <a:ext cx="58674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Risk Managed Positioning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4000" y="22098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Embed model confidence directly into capital allocation rules. Size trades by the inverse of the forecast error.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3124200"/>
            <a:ext cx="0" cy="1270000"/>
          </a:xfrm>
          <a:prstGeom prst="line">
            <a:avLst/>
          </a:prstGeom>
          <a:noFill/>
          <a:ln w="50800">
            <a:solidFill>
              <a:srgbClr val="EE6172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54000" y="3124200"/>
            <a:ext cx="5588000" cy="1270000"/>
          </a:xfrm>
          <a:custGeom>
            <a:avLst/>
            <a:gdLst/>
            <a:ahLst/>
            <a:cxnLst/>
            <a:rect l="l" t="t" r="r" b="b"/>
            <a:pathLst>
              <a:path w="5588000" h="1270000">
                <a:moveTo>
                  <a:pt x="0" y="0"/>
                </a:moveTo>
                <a:lnTo>
                  <a:pt x="5486400" y="0"/>
                </a:lnTo>
                <a:cubicBezTo>
                  <a:pt x="5542475" y="0"/>
                  <a:pt x="5588000" y="45525"/>
                  <a:pt x="5588000" y="101600"/>
                </a:cubicBezTo>
                <a:lnTo>
                  <a:pt x="5588000" y="1168400"/>
                </a:lnTo>
                <a:cubicBezTo>
                  <a:pt x="5588000" y="1224475"/>
                  <a:pt x="5542475" y="1270000"/>
                  <a:pt x="5486400" y="1270000"/>
                </a:cubicBez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EE6172">
              <a:alpha val="10196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3327400"/>
            <a:ext cx="529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E61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Wider Bands = Smaller Size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3683000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uncertainty demands caution. Reduce position size to manage risk.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4000" y="4597400"/>
            <a:ext cx="0" cy="1270000"/>
          </a:xfrm>
          <a:prstGeom prst="line">
            <a:avLst/>
          </a:prstGeom>
          <a:noFill/>
          <a:ln w="50800">
            <a:solidFill>
              <a:srgbClr val="2A3A6D">
                <a:alpha val="85098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54000" y="4597400"/>
            <a:ext cx="5588000" cy="1270000"/>
          </a:xfrm>
          <a:custGeom>
            <a:avLst/>
            <a:gdLst/>
            <a:ahLst/>
            <a:cxnLst/>
            <a:rect l="l" t="t" r="r" b="b"/>
            <a:pathLst>
              <a:path w="5588000" h="1270000">
                <a:moveTo>
                  <a:pt x="0" y="0"/>
                </a:moveTo>
                <a:lnTo>
                  <a:pt x="5486400" y="0"/>
                </a:lnTo>
                <a:cubicBezTo>
                  <a:pt x="5542475" y="0"/>
                  <a:pt x="5588000" y="45525"/>
                  <a:pt x="5588000" y="101600"/>
                </a:cubicBezTo>
                <a:lnTo>
                  <a:pt x="5588000" y="1168400"/>
                </a:lnTo>
                <a:cubicBezTo>
                  <a:pt x="5588000" y="1224475"/>
                  <a:pt x="5542475" y="1270000"/>
                  <a:pt x="5486400" y="1270000"/>
                </a:cubicBez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2A3A6D">
              <a:alpha val="8627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8000" y="4800600"/>
            <a:ext cx="529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2A3A6D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Tighter Bands = Larger Size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5156200"/>
            <a:ext cx="5270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conviction allows for greater capital allocation to capitalize on the signal.</a:t>
            </a:r>
            <a:endParaRPr lang="en-US" sz="1600" dirty="0"/>
          </a:p>
        </p:txBody>
      </p:sp>
      <p:pic>
        <p:nvPicPr>
          <p:cNvPr id="14" name="Image 0" descr="https://kimi-web-img.moonshot.cn/img/www.publicdomainpictures.net/65f2a5243b6a42c8195e5b620a7ac6b7e31c20fa.jpg"/>
          <p:cNvPicPr>
            <a:picLocks noChangeAspect="1"/>
          </p:cNvPicPr>
          <p:nvPr/>
        </p:nvPicPr>
        <p:blipFill>
          <a:blip r:embed="rId3"/>
          <a:srcRect l="24239" r="24239"/>
          <a:stretch/>
        </p:blipFill>
        <p:spPr>
          <a:xfrm>
            <a:off x="6299200" y="254000"/>
            <a:ext cx="5638800" cy="6350000"/>
          </a:xfrm>
          <a:prstGeom prst="roundRect">
            <a:avLst>
              <a:gd name="adj" fmla="val 2703"/>
            </a:avLst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solidFill>
            <a:srgbClr val="F1EDE4"/>
          </a:solidFill>
          <a:ln/>
        </p:spPr>
      </p:sp>
      <p:sp>
        <p:nvSpPr>
          <p:cNvPr id="3" name="Text 1"/>
          <p:cNvSpPr/>
          <p:nvPr/>
        </p:nvSpPr>
        <p:spPr>
          <a:xfrm>
            <a:off x="-207645" y="-123190"/>
            <a:ext cx="12672695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29-d2nf7l98bjvh7rlj06v0.png"/>
          <p:cNvPicPr>
            <a:picLocks noChangeAspect="1"/>
          </p:cNvPicPr>
          <p:nvPr/>
        </p:nvPicPr>
        <p:blipFill>
          <a:blip r:embed="rId3"/>
          <a:srcRect l="14" r="14"/>
          <a:stretch/>
        </p:blipFill>
        <p:spPr>
          <a:xfrm>
            <a:off x="1632903" y="1431290"/>
            <a:ext cx="8020685" cy="449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97973" y="883285"/>
            <a:ext cx="6527165" cy="480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0000" b="1" dirty="0">
                <a:gradFill flip="none" rotWithShape="0">
                  <a:gsLst>
                    <a:gs pos="0">
                      <a:srgbClr val="FED34F"/>
                    </a:gs>
                    <a:gs pos="44000">
                      <a:srgbClr val="F0939E">
                        <a:alpha val="31000"/>
                      </a:srgbClr>
                    </a:gs>
                    <a:gs pos="75000">
                      <a:srgbClr val="FFE890">
                        <a:alpha val="8000"/>
                      </a:srgbClr>
                    </a:gs>
                    <a:gs pos="100000">
                      <a:srgbClr val="FFEEB1">
                        <a:alpha val="0"/>
                      </a:srgbClr>
                    </a:gs>
                  </a:gsLst>
                  <a:lin ang="5880000" scaled="1"/>
                </a:gra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411028" y="2993390"/>
            <a:ext cx="5901690" cy="21824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3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Limits &amp; Upgrades</a:t>
            </a:r>
            <a:endParaRPr lang="en-US" sz="1600" dirty="0"/>
          </a:p>
        </p:txBody>
      </p:sp>
      <p:pic>
        <p:nvPicPr>
          <p:cNvPr id="7" name="Image 1" descr="https://kimi-img.moonshot.cn/pub/slides/slides_tmpl/image/25-08-27-20:02:26-d2nf7kh8bjvh7rlj06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520" y="4749800"/>
            <a:ext cx="1024890" cy="94170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2:26-d2nf7kh8bjvh7rlj06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240000">
            <a:off x="5381625" y="991870"/>
            <a:ext cx="1428115" cy="1216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web-img.moonshot.cn/img/img-blog.csdnimg.cn/d419b926aa14d072410f0327fc35b5a7dac53b10.png"/>
          <p:cNvPicPr>
            <a:picLocks noChangeAspect="1"/>
          </p:cNvPicPr>
          <p:nvPr/>
        </p:nvPicPr>
        <p:blipFill>
          <a:blip r:embed="rId3"/>
          <a:srcRect l="26701" r="26701"/>
          <a:stretch/>
        </p:blipFill>
        <p:spPr>
          <a:xfrm>
            <a:off x="254000" y="254000"/>
            <a:ext cx="5638800" cy="6350000"/>
          </a:xfrm>
          <a:prstGeom prst="roundRect">
            <a:avLst>
              <a:gd name="adj" fmla="val 2703"/>
            </a:avLst>
          </a:prstGeom>
        </p:spPr>
      </p:pic>
      <p:sp>
        <p:nvSpPr>
          <p:cNvPr id="5" name="Text 2"/>
          <p:cNvSpPr/>
          <p:nvPr/>
        </p:nvSpPr>
        <p:spPr>
          <a:xfrm>
            <a:off x="6299200" y="1651000"/>
            <a:ext cx="586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Linearity Fails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299200" y="2362200"/>
            <a:ext cx="5740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Regime shifts, earnings gaps, or black-swan events break linear assumptions. Be prepared to adapt.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86195" y="332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47650" y="123825"/>
                </a:moveTo>
                <a:cubicBezTo>
                  <a:pt x="247650" y="151150"/>
                  <a:pt x="238780" y="176391"/>
                  <a:pt x="223838" y="196870"/>
                </a:cubicBezTo>
                <a:lnTo>
                  <a:pt x="299204" y="272296"/>
                </a:lnTo>
                <a:cubicBezTo>
                  <a:pt x="306645" y="279737"/>
                  <a:pt x="306645" y="291822"/>
                  <a:pt x="299204" y="299264"/>
                </a:cubicBezTo>
                <a:cubicBezTo>
                  <a:pt x="291763" y="306705"/>
                  <a:pt x="279678" y="306705"/>
                  <a:pt x="272236" y="299264"/>
                </a:cubicBezTo>
                <a:lnTo>
                  <a:pt x="196870" y="223838"/>
                </a:lnTo>
                <a:cubicBezTo>
                  <a:pt x="176391" y="238780"/>
                  <a:pt x="151150" y="247650"/>
                  <a:pt x="123825" y="247650"/>
                </a:cubicBezTo>
                <a:cubicBezTo>
                  <a:pt x="55424" y="247650"/>
                  <a:pt x="0" y="192226"/>
                  <a:pt x="0" y="123825"/>
                </a:cubicBezTo>
                <a:cubicBezTo>
                  <a:pt x="0" y="55424"/>
                  <a:pt x="55424" y="0"/>
                  <a:pt x="123825" y="0"/>
                </a:cubicBezTo>
                <a:cubicBezTo>
                  <a:pt x="192226" y="0"/>
                  <a:pt x="247650" y="55424"/>
                  <a:pt x="247650" y="123825"/>
                </a:cubicBezTo>
                <a:close/>
                <a:moveTo>
                  <a:pt x="123825" y="209550"/>
                </a:moveTo>
                <a:cubicBezTo>
                  <a:pt x="171138" y="209550"/>
                  <a:pt x="209550" y="171138"/>
                  <a:pt x="209550" y="123825"/>
                </a:cubicBezTo>
                <a:cubicBezTo>
                  <a:pt x="209550" y="76512"/>
                  <a:pt x="171138" y="38100"/>
                  <a:pt x="123825" y="38100"/>
                </a:cubicBezTo>
                <a:cubicBezTo>
                  <a:pt x="76512" y="38100"/>
                  <a:pt x="38100" y="76512"/>
                  <a:pt x="38100" y="123825"/>
                </a:cubicBezTo>
                <a:cubicBezTo>
                  <a:pt x="38100" y="171138"/>
                  <a:pt x="76512" y="209550"/>
                  <a:pt x="123825" y="209550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8" name="Text 5"/>
          <p:cNvSpPr/>
          <p:nvPr/>
        </p:nvSpPr>
        <p:spPr>
          <a:xfrm>
            <a:off x="6981349" y="3276600"/>
            <a:ext cx="506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981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81349" y="3632200"/>
            <a:ext cx="5041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Monitor for spikes in model residuals as a sign of structural breaks.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68733" y="439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1" name="Text 8"/>
          <p:cNvSpPr/>
          <p:nvPr/>
        </p:nvSpPr>
        <p:spPr>
          <a:xfrm>
            <a:off x="6946424" y="4343400"/>
            <a:ext cx="510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E61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46424" y="469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Switch to more flexible models like </a:t>
            </a:r>
            <a:r>
              <a:rPr lang="en-US" sz="14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regime-switching</a:t>
            </a: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r>
              <a:rPr lang="en-US" sz="1400" b="1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hybrids</a:t>
            </a: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DF3E9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52165" y="17780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2A3A6D">
                    <a:alpha val="8500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Next-Gen Hybrid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2050" y="2387600"/>
            <a:ext cx="9867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regression for interpretability with LSTM for non-linear patterns, creating a powerful, transparent ensemble.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000" y="3632200"/>
            <a:ext cx="3238500" cy="1320800"/>
          </a:xfrm>
          <a:custGeom>
            <a:avLst/>
            <a:gdLst/>
            <a:ahLst/>
            <a:cxnLst/>
            <a:rect l="l" t="t" r="r" b="b"/>
            <a:pathLst>
              <a:path w="3238500" h="1320800">
                <a:moveTo>
                  <a:pt x="101596" y="0"/>
                </a:moveTo>
                <a:lnTo>
                  <a:pt x="3136904" y="0"/>
                </a:lnTo>
                <a:cubicBezTo>
                  <a:pt x="3193014" y="0"/>
                  <a:pt x="3238500" y="45486"/>
                  <a:pt x="3238500" y="101596"/>
                </a:cubicBezTo>
                <a:lnTo>
                  <a:pt x="3238500" y="1219204"/>
                </a:lnTo>
                <a:cubicBezTo>
                  <a:pt x="3238500" y="1275314"/>
                  <a:pt x="3193014" y="1320800"/>
                  <a:pt x="31369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2A3A6D">
              <a:alpha val="8627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0050" y="38354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2A3A6D">
                    <a:alpha val="8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2750" y="42418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Provides an interpretable baseline forecast.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785711" y="4064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8600" y="57150"/>
                </a:moveTo>
                <a:cubicBezTo>
                  <a:pt x="228600" y="41344"/>
                  <a:pt x="215831" y="28575"/>
                  <a:pt x="200025" y="28575"/>
                </a:cubicBezTo>
                <a:cubicBezTo>
                  <a:pt x="184219" y="28575"/>
                  <a:pt x="171450" y="41344"/>
                  <a:pt x="171450" y="57150"/>
                </a:cubicBezTo>
                <a:lnTo>
                  <a:pt x="17145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71450" y="257175"/>
                </a:lnTo>
                <a:lnTo>
                  <a:pt x="171450" y="400050"/>
                </a:lnTo>
                <a:cubicBezTo>
                  <a:pt x="171450" y="415856"/>
                  <a:pt x="184219" y="428625"/>
                  <a:pt x="200025" y="428625"/>
                </a:cubicBezTo>
                <a:cubicBezTo>
                  <a:pt x="215831" y="428625"/>
                  <a:pt x="228600" y="415856"/>
                  <a:pt x="228600" y="400050"/>
                </a:cubicBezTo>
                <a:lnTo>
                  <a:pt x="228600" y="257175"/>
                </a:lnTo>
                <a:lnTo>
                  <a:pt x="371475" y="257175"/>
                </a:lnTo>
                <a:cubicBezTo>
                  <a:pt x="387281" y="257175"/>
                  <a:pt x="400050" y="244406"/>
                  <a:pt x="400050" y="228600"/>
                </a:cubicBezTo>
                <a:cubicBezTo>
                  <a:pt x="400050" y="212794"/>
                  <a:pt x="387281" y="200025"/>
                  <a:pt x="371475" y="200025"/>
                </a:cubicBezTo>
                <a:lnTo>
                  <a:pt x="228600" y="200025"/>
                </a:lnTo>
                <a:lnTo>
                  <a:pt x="228600" y="5715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0" name="Shape 8"/>
          <p:cNvSpPr/>
          <p:nvPr/>
        </p:nvSpPr>
        <p:spPr>
          <a:xfrm>
            <a:off x="4474686" y="3632200"/>
            <a:ext cx="3238500" cy="1320800"/>
          </a:xfrm>
          <a:custGeom>
            <a:avLst/>
            <a:gdLst/>
            <a:ahLst/>
            <a:cxnLst/>
            <a:rect l="l" t="t" r="r" b="b"/>
            <a:pathLst>
              <a:path w="3238500" h="1320800">
                <a:moveTo>
                  <a:pt x="101596" y="0"/>
                </a:moveTo>
                <a:lnTo>
                  <a:pt x="3136904" y="0"/>
                </a:lnTo>
                <a:cubicBezTo>
                  <a:pt x="3193014" y="0"/>
                  <a:pt x="3238500" y="45486"/>
                  <a:pt x="3238500" y="101596"/>
                </a:cubicBezTo>
                <a:lnTo>
                  <a:pt x="3238500" y="1219204"/>
                </a:lnTo>
                <a:cubicBezTo>
                  <a:pt x="3238500" y="1275314"/>
                  <a:pt x="3193014" y="1320800"/>
                  <a:pt x="31369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6981A4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0736" y="38354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6981A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LSTM Network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3436" y="4241800"/>
            <a:ext cx="292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Models the non-linear residuals and complex patterns.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77822" y="406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FCC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8695372" y="3505200"/>
            <a:ext cx="3238500" cy="1574800"/>
          </a:xfrm>
          <a:custGeom>
            <a:avLst/>
            <a:gdLst/>
            <a:ahLst/>
            <a:cxnLst/>
            <a:rect l="l" t="t" r="r" b="b"/>
            <a:pathLst>
              <a:path w="3238500" h="1574800">
                <a:moveTo>
                  <a:pt x="101606" y="0"/>
                </a:moveTo>
                <a:lnTo>
                  <a:pt x="3136894" y="0"/>
                </a:lnTo>
                <a:cubicBezTo>
                  <a:pt x="3193009" y="0"/>
                  <a:pt x="3238500" y="45491"/>
                  <a:pt x="3238500" y="101606"/>
                </a:cubicBezTo>
                <a:lnTo>
                  <a:pt x="3238500" y="1473194"/>
                </a:lnTo>
                <a:cubicBezTo>
                  <a:pt x="3238500" y="1529309"/>
                  <a:pt x="3193009" y="1574800"/>
                  <a:pt x="31368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EE6172">
              <a:alpha val="10196"/>
            </a:srgbClr>
          </a:solidFill>
          <a:ln/>
          <a:effectLst>
            <a:outerShdw blurRad="76200" dist="508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41422" y="3708400"/>
            <a:ext cx="294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E61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LR-LSTM Fusion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54122" y="41148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531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weighted ensemble that lifts accuracy while preserving transparency.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solidFill>
            <a:srgbClr val="F1E5D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23190"/>
            <a:ext cx="1219200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2:33-d2nf7m98bjvh7rlj07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845" y="3060065"/>
            <a:ext cx="4645025" cy="56705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59815" y="361950"/>
            <a:ext cx="10026015" cy="5439410"/>
          </a:xfrm>
          <a:prstGeom prst="ellipse">
            <a:avLst/>
          </a:prstGeom>
          <a:solidFill>
            <a:srgbClr val="FFFFFF">
              <a:alpha val="0"/>
            </a:srgbClr>
          </a:solidFill>
          <a:ln w="53975">
            <a:solidFill>
              <a:srgbClr val="F87C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9815" y="361950"/>
            <a:ext cx="10026015" cy="54394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19030" y="4254110"/>
            <a:ext cx="8011160" cy="3679825"/>
          </a:xfrm>
          <a:prstGeom prst="rect">
            <a:avLst/>
          </a:prstGeom>
          <a:solidFill>
            <a:srgbClr val="F1E5D5"/>
          </a:solidFill>
          <a:ln/>
        </p:spPr>
        <p:txBody>
          <a:bodyPr/>
          <a:lstStyle/>
          <a:p>
            <a:r>
              <a:rPr lang="en-US" dirty="0" err="1"/>
              <a:t>Jhh</a:t>
            </a:r>
            <a:r>
              <a:rPr lang="en-US" dirty="0"/>
              <a:t>                 </a:t>
            </a:r>
          </a:p>
        </p:txBody>
      </p:sp>
      <p:sp>
        <p:nvSpPr>
          <p:cNvPr id="8" name="Text 5"/>
          <p:cNvSpPr/>
          <p:nvPr/>
        </p:nvSpPr>
        <p:spPr>
          <a:xfrm>
            <a:off x="5158105" y="4269740"/>
            <a:ext cx="8011160" cy="36798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1" descr="https://kimi-img.moonshot.cn/pub/slides/slides_tmpl/image/25-08-27-20:02:35-d2nf7mp8bjvh7rlj07eg.png"/>
          <p:cNvPicPr>
            <a:picLocks noChangeAspect="1"/>
          </p:cNvPicPr>
          <p:nvPr/>
        </p:nvPicPr>
        <p:blipFill>
          <a:blip r:embed="rId4"/>
          <a:srcRect l="14" r="14"/>
          <a:stretch/>
        </p:blipFill>
        <p:spPr>
          <a:xfrm>
            <a:off x="1905" y="1789430"/>
            <a:ext cx="8321675" cy="46647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08265" y="5183505"/>
            <a:ext cx="269176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81165" y="5647690"/>
            <a:ext cx="3618865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58105" y="2083435"/>
            <a:ext cx="4778375" cy="9766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6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691</Words>
  <Application>Microsoft Office PowerPoint</Application>
  <PresentationFormat>Widescreen</PresentationFormat>
  <Paragraphs>132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Noto Sans SC</vt:lpstr>
      <vt:lpstr>Arial</vt:lpstr>
      <vt:lpstr>Cambria Math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Regression-Powered Stock Trend Forecast</dc:title>
  <dc:subject>Regression-Powered Stock Trend Forecast</dc:subject>
  <dc:creator>Kimi</dc:creator>
  <cp:lastModifiedBy>SATHWIK PUSALA</cp:lastModifiedBy>
  <cp:revision>2</cp:revision>
  <dcterms:created xsi:type="dcterms:W3CDTF">2025-11-21T09:42:31Z</dcterms:created>
  <dcterms:modified xsi:type="dcterms:W3CDTF">2025-11-21T09:54:21Z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{"Label":"Regression-Powered Stock Trend Forecast","ContentProducer":"001191110108MACG2KBH8F10000","ProduceID":"d4g3426fn02d7cvlqq80","ReservedCode1":"","ContentPropagator":"001191110108MACG2KBH8F20000","PropagateID":"d4g3426fn02d7cvlqq80","ReservedCode2":""}</vt:lpwstr>
  </property>
</Properties>
</file>